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Contract Testing Automation with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DCFE4"/>
                </a:solidFill>
                <a:latin typeface="Calibri"/>
              </a:defRPr>
            </a:pPr>
            <a:r>
              <a:t>Automated Consumer-Provider API Contract Verification  |  Java • Spring Boot • Spring Cloud Contract • Python • GitLab CI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554480"/>
            <a:ext cx="5577840" cy="5029200"/>
          </a:xfrm>
          <a:prstGeom prst="roundRect">
            <a:avLst>
              <a:gd name="adj" fmla="val 5893"/>
            </a:avLst>
          </a:prstGeom>
          <a:solidFill>
            <a:srgbClr val="FDEDEC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74C3C"/>
                </a:solidFill>
                <a:latin typeface="Calibri"/>
              </a:defRPr>
            </a:pPr>
            <a:r>
              <a:t>⚠  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  <a:latin typeface="Calibri"/>
              </a:defRPr>
            </a:pPr>
            <a:r>
              <a:t>"Microservices Break Each Other — Silently, in Production"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423160"/>
            <a:ext cx="51206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Calibri"/>
              </a:defRPr>
            </a:pPr>
            <a:r>
              <a:t>Real-World Breaking Change Scenario: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2C3E50"/>
                </a:solidFill>
                <a:latin typeface="Calibri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E3A5F"/>
                </a:solidFill>
                <a:latin typeface="Consolas"/>
              </a:defRPr>
            </a:pPr>
            <a:r>
              <a:t>Team A (User Service)                     Team B (Order Service)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Renames "name" → "fullName"               Expects response with "name"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Updates their own tests  ✅                Doesn't know about change  ❌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Deploys to production   ✅                Deploys to production      ✅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E74C3C"/>
                </a:solidFill>
                <a:latin typeface="Consolas"/>
              </a:defRPr>
            </a:pPr>
            <a:r>
              <a:t>                                              💥 BREAKS IN PRODUCTION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69080"/>
            <a:ext cx="51206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74C3C"/>
                </a:solidFill>
                <a:latin typeface="Calibri"/>
              </a:defRPr>
            </a:pPr>
            <a:r>
              <a:rPr dirty="0"/>
              <a:t>Key Pain Points: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950" b="0">
                <a:solidFill>
                  <a:srgbClr val="2C3E50"/>
                </a:solidFill>
                <a:latin typeface="Calibri"/>
              </a:defRPr>
            </a:pPr>
            <a:r>
              <a:rPr dirty="0"/>
              <a:t>❌  Manual contract testing is error-prone → Failures reach production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950" b="0">
                <a:solidFill>
                  <a:srgbClr val="2C3E50"/>
                </a:solidFill>
                <a:latin typeface="Calibri"/>
              </a:defRPr>
            </a:pPr>
            <a:r>
              <a:rPr dirty="0"/>
              <a:t>❌  APIs updated without contract updates → Consumer apps break silently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950" b="0">
                <a:solidFill>
                  <a:srgbClr val="2C3E50"/>
                </a:solidFill>
                <a:latin typeface="Calibri"/>
              </a:defRPr>
            </a:pPr>
            <a:r>
              <a:rPr dirty="0"/>
              <a:t>❌  No automated CI/CD verification → Breaking changes deployed unknowingly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950" b="0">
                <a:solidFill>
                  <a:srgbClr val="2C3E50"/>
                </a:solidFill>
                <a:latin typeface="Calibri"/>
              </a:defRPr>
            </a:pPr>
            <a:r>
              <a:rPr dirty="0"/>
              <a:t>❌  Contract maintenance is labor-intensive → Developers skip updates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950" b="0">
                <a:solidFill>
                  <a:srgbClr val="2C3E50"/>
                </a:solidFill>
                <a:latin typeface="Calibri"/>
              </a:defRPr>
            </a:pPr>
            <a:r>
              <a:rPr dirty="0"/>
              <a:t>❌  Slow violation identification → Extended downtime &amp; debugging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5577840" cy="5029200"/>
          </a:xfrm>
          <a:prstGeom prst="roundRect">
            <a:avLst>
              <a:gd name="adj" fmla="val 5051"/>
            </a:avLst>
          </a:prstGeom>
          <a:solidFill>
            <a:srgbClr val="EAFAEF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6459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CC71"/>
                </a:solidFill>
                <a:latin typeface="Calibri"/>
              </a:defRPr>
            </a:pPr>
            <a:r>
              <a:t>✅  THE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0116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  <a:latin typeface="Calibri"/>
              </a:defRPr>
            </a:pPr>
            <a:r>
              <a:t>"Catch Breaking Changes at Build Time, Not Production"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2423160"/>
            <a:ext cx="5120640" cy="182880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29400" y="246888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CC71"/>
                </a:solidFill>
                <a:latin typeface="Calibri"/>
              </a:defRPr>
            </a:pPr>
            <a:r>
              <a:rPr dirty="0"/>
              <a:t>Contract YAML — The Shared Agreement: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A3E4D7"/>
                </a:solidFill>
                <a:latin typeface="Consolas"/>
              </a:defRPr>
            </a:pPr>
            <a:r>
              <a:rPr dirty="0"/>
              <a:t>request: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A3E4D7"/>
                </a:solidFill>
                <a:latin typeface="Consolas"/>
              </a:defRPr>
            </a:pPr>
            <a:r>
              <a:rPr dirty="0"/>
              <a:t>  method: GET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A3E4D7"/>
                </a:solidFill>
                <a:latin typeface="Consolas"/>
              </a:defRPr>
            </a:pPr>
            <a:r>
              <a:rPr dirty="0"/>
              <a:t>  url: /</a:t>
            </a:r>
            <a:r>
              <a:rPr dirty="0" err="1"/>
              <a:t>api</a:t>
            </a:r>
            <a:r>
              <a:rPr dirty="0"/>
              <a:t>/users/1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A3E4D7"/>
                </a:solidFill>
                <a:latin typeface="Consolas"/>
              </a:defRPr>
            </a:pPr>
            <a:r>
              <a:rPr dirty="0"/>
              <a:t>response: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A3E4D7"/>
                </a:solidFill>
                <a:latin typeface="Consolas"/>
              </a:defRPr>
            </a:pPr>
            <a:r>
              <a:rPr dirty="0"/>
              <a:t>  status: 200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A3E4D7"/>
                </a:solidFill>
                <a:latin typeface="Consolas"/>
              </a:defRPr>
            </a:pPr>
            <a:r>
              <a:rPr dirty="0"/>
              <a:t>  body: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A3E4D7"/>
                </a:solidFill>
                <a:latin typeface="Consolas"/>
              </a:defRPr>
            </a:pPr>
            <a:r>
              <a:rPr dirty="0"/>
              <a:t>    id: 1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A3E4D7"/>
                </a:solidFill>
                <a:latin typeface="Consolas"/>
              </a:defRPr>
            </a:pPr>
            <a:r>
              <a:rPr dirty="0"/>
              <a:t>    name: "Alice Johnson"        ← If removed/renamed,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A3E4D7"/>
                </a:solidFill>
                <a:latin typeface="Consolas"/>
              </a:defRPr>
            </a:pPr>
            <a:r>
              <a:rPr dirty="0"/>
              <a:t>    email: "alice@example.com"       contract test FAILS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A3E4D7"/>
                </a:solidFill>
                <a:latin typeface="Consolas"/>
              </a:defRPr>
            </a:pPr>
            <a:r>
              <a:rPr dirty="0"/>
              <a:t>    role: "ADMIN"                    → deployment BLOCKED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4389120"/>
            <a:ext cx="51206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F5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29400" y="443484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3A5F"/>
                </a:solidFill>
                <a:latin typeface="Calibri"/>
              </a:defRPr>
            </a:pPr>
            <a:r>
              <a:t>Architecture Overview: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400" b="0">
                <a:solidFill>
                  <a:srgbClr val="2C3E50"/>
                </a:solidFill>
                <a:latin typeface="Calibri"/>
              </a:defRPr>
            </a:pPr>
            <a:endParaRPr/>
          </a:p>
          <a:p>
            <a:pPr algn="l">
              <a:spcBef>
                <a:spcPts val="300"/>
              </a:spcBef>
              <a:spcAft>
                <a:spcPts val="0"/>
              </a:spcAft>
              <a:defRPr sz="1050" b="1">
                <a:solidFill>
                  <a:srgbClr val="2C3E50"/>
                </a:solidFill>
                <a:latin typeface="Calibri"/>
              </a:defRPr>
            </a:pPr>
            <a:r>
              <a:t>📦  Provider API (User Service)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900" b="0">
                <a:solidFill>
                  <a:srgbClr val="7F8C8D"/>
                </a:solidFill>
                <a:latin typeface="Calibri"/>
              </a:defRPr>
            </a:pPr>
            <a:r>
              <a:t>     Spring Boot :8080 • Full CRUD • OpenAPI Spec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defRPr sz="1050" b="1">
                <a:solidFill>
                  <a:srgbClr val="2C3E50"/>
                </a:solidFill>
                <a:latin typeface="Calibri"/>
              </a:defRPr>
            </a:pPr>
            <a:r>
              <a:t>🛒  Consumer API (Order Service)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900" b="0">
                <a:solidFill>
                  <a:srgbClr val="7F8C8D"/>
                </a:solidFill>
                <a:latin typeface="Calibri"/>
              </a:defRPr>
            </a:pPr>
            <a:r>
              <a:t>     Spring Boot :8081 • Calls Provider • WireMock Stubs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defRPr sz="1050" b="1">
                <a:solidFill>
                  <a:srgbClr val="2C3E50"/>
                </a:solidFill>
                <a:latin typeface="Calibri"/>
              </a:defRPr>
            </a:pPr>
            <a:r>
              <a:t>🤖  AI Agent (Python)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900" b="0">
                <a:solidFill>
                  <a:srgbClr val="7F8C8D"/>
                </a:solidFill>
                <a:latin typeface="Calibri"/>
              </a:defRPr>
            </a:pPr>
            <a:r>
              <a:t>     Reads spec → Generates contracts → Detects drift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defRPr sz="1050" b="1">
                <a:solidFill>
                  <a:srgbClr val="2C3E50"/>
                </a:solidFill>
                <a:latin typeface="Calibri"/>
              </a:defRPr>
            </a:pPr>
            <a:r>
              <a:t>🔄  GitLab CI/CD Pipeline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900" b="0">
                <a:solidFill>
                  <a:srgbClr val="7F8C8D"/>
                </a:solidFill>
                <a:latin typeface="Calibri"/>
              </a:defRPr>
            </a:pPr>
            <a:r>
              <a:t>     Build → Test → Report → Deploy (gated)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defRPr sz="1050" b="1">
                <a:solidFill>
                  <a:srgbClr val="2C3E50"/>
                </a:solidFill>
                <a:latin typeface="Calibri"/>
              </a:defRPr>
            </a:pPr>
            <a:r>
              <a:t>📋  5 Contract YAML Files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900" b="0">
                <a:solidFill>
                  <a:srgbClr val="7F8C8D"/>
                </a:solidFill>
                <a:latin typeface="Calibri"/>
              </a:defRPr>
            </a:pPr>
            <a:r>
              <a:t>     100% API coverage • Auto-verified on every 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How It Works — From Code to CI/CD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DCFE4"/>
                </a:solidFill>
                <a:latin typeface="Calibri"/>
              </a:defRPr>
            </a:pPr>
            <a:r>
              <a:t>Two Microservices  •  Contract Testing  •  AI Agent  •  Automated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051560"/>
            <a:ext cx="5669280" cy="274320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3A5F"/>
                </a:solidFill>
                <a:latin typeface="Calibri"/>
              </a:defRPr>
            </a:pPr>
            <a:r>
              <a:t>☁  Two Real Microservices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26060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2468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3A5F"/>
                </a:solidFill>
                <a:latin typeface="Calibri"/>
              </a:defRPr>
            </a:pPr>
            <a:r>
              <a:t>📦 Provider: User Service (:8080)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400" b="0">
                <a:solidFill>
                  <a:srgbClr val="2C3E50"/>
                </a:solidFill>
                <a:latin typeface="Calibri"/>
              </a:defRPr>
            </a:pPr>
            <a:endParaRPr/>
          </a:p>
          <a:p>
            <a:pPr algn="l">
              <a:spcBef>
                <a:spcPts val="100"/>
              </a:spcBef>
              <a:spcAft>
                <a:spcPts val="0"/>
              </a:spcAft>
              <a:defRPr sz="800" b="0">
                <a:solidFill>
                  <a:srgbClr val="2C3E50"/>
                </a:solidFill>
                <a:latin typeface="Consolas"/>
              </a:defRPr>
            </a:pPr>
            <a:r>
              <a:t>GET    /api/users         List all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800" b="0">
                <a:solidFill>
                  <a:srgbClr val="2C3E50"/>
                </a:solidFill>
                <a:latin typeface="Consolas"/>
              </a:defRPr>
            </a:pPr>
            <a:r>
              <a:t>GET    /api/users/{id}    Get by ID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800" b="0">
                <a:solidFill>
                  <a:srgbClr val="2C3E50"/>
                </a:solidFill>
                <a:latin typeface="Consolas"/>
              </a:defRPr>
            </a:pPr>
            <a:r>
              <a:t>POST   /api/users         Create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800" b="0">
                <a:solidFill>
                  <a:srgbClr val="2C3E50"/>
                </a:solidFill>
                <a:latin typeface="Consolas"/>
              </a:defRPr>
            </a:pPr>
            <a:r>
              <a:t>PUT    /api/users/{id}    Update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800" b="0">
                <a:solidFill>
                  <a:srgbClr val="2C3E50"/>
                </a:solidFill>
                <a:latin typeface="Consolas"/>
              </a:defRPr>
            </a:pPr>
            <a:r>
              <a:t>DELETE /api/users/{id}    Delete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400" b="0">
                <a:solidFill>
                  <a:srgbClr val="2C3E50"/>
                </a:solidFill>
                <a:latin typeface="Calibri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F8C8D"/>
                </a:solidFill>
                <a:latin typeface="Calibri"/>
              </a:defRPr>
            </a:pPr>
            <a:r>
              <a:t>Spring Boot • Jakarta Validation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F8C8D"/>
                </a:solidFill>
                <a:latin typeface="Calibri"/>
              </a:defRPr>
            </a:pPr>
            <a:r>
              <a:t>OpenAPI/Swagger • Exception Handling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1463040"/>
            <a:ext cx="26060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37560" y="1508760"/>
            <a:ext cx="24231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CC71"/>
                </a:solidFill>
                <a:latin typeface="Calibri"/>
              </a:defRPr>
            </a:pPr>
            <a:r>
              <a:t>🛒 Consumer: Order Service (:8081)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400" b="0">
                <a:solidFill>
                  <a:srgbClr val="2C3E50"/>
                </a:solidFill>
                <a:latin typeface="Calibri"/>
              </a:defRPr>
            </a:pPr>
            <a:endParaRPr/>
          </a:p>
          <a:p>
            <a:pPr algn="l">
              <a:spcBef>
                <a:spcPts val="200"/>
              </a:spcBef>
              <a:spcAft>
                <a:spcPts val="0"/>
              </a:spcAft>
              <a:defRPr sz="900" b="0">
                <a:solidFill>
                  <a:srgbClr val="2C3E50"/>
                </a:solidFill>
                <a:latin typeface="Calibri"/>
              </a:defRPr>
            </a:pPr>
            <a:r>
              <a:t>Calls Provider via RestTemplate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C3E50"/>
                </a:solidFill>
                <a:latin typeface="Calibri"/>
              </a:defRPr>
            </a:pPr>
            <a:r>
              <a:t>to enrich orders with user data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2C3E50"/>
                </a:solidFill>
                <a:latin typeface="Calibri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C3E50"/>
                </a:solidFill>
                <a:latin typeface="Calibri"/>
              </a:defRPr>
            </a:pPr>
            <a:r>
              <a:t>Key Dependency: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900" b="0">
                <a:solidFill>
                  <a:srgbClr val="2C3E50"/>
                </a:solidFill>
                <a:latin typeface="Calibri"/>
              </a:defRPr>
            </a:pPr>
            <a:r>
              <a:t>UserDTO must match Provider's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C3E50"/>
                </a:solidFill>
                <a:latin typeface="Calibri"/>
              </a:defRPr>
            </a:pPr>
            <a:r>
              <a:t>User response format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400" b="0">
                <a:solidFill>
                  <a:srgbClr val="2C3E50"/>
                </a:solidFill>
                <a:latin typeface="Calibri"/>
              </a:defRPr>
            </a:pPr>
            <a:endParaRPr/>
          </a:p>
          <a:p>
            <a:pPr algn="l">
              <a:spcBef>
                <a:spcPts val="200"/>
              </a:spcBef>
              <a:spcAft>
                <a:spcPts val="0"/>
              </a:spcAft>
              <a:defRPr sz="900" b="0">
                <a:solidFill>
                  <a:srgbClr val="E74C3C"/>
                </a:solidFill>
                <a:latin typeface="Calibri"/>
              </a:defRPr>
            </a:pPr>
            <a:r>
              <a:t>→ If Provider changes shape,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E74C3C"/>
                </a:solidFill>
                <a:latin typeface="Calibri"/>
              </a:defRPr>
            </a:pPr>
            <a:r>
              <a:t>   Consumer breaks!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400" b="0">
                <a:solidFill>
                  <a:srgbClr val="2C3E50"/>
                </a:solidFill>
                <a:latin typeface="Calibri"/>
              </a:defRPr>
            </a:pPr>
            <a:endParaRPr/>
          </a:p>
          <a:p>
            <a:pPr algn="l">
              <a:spcBef>
                <a:spcPts val="200"/>
              </a:spcBef>
              <a:spcAft>
                <a:spcPts val="0"/>
              </a:spcAft>
              <a:defRPr sz="800" b="0">
                <a:solidFill>
                  <a:srgbClr val="7F8C8D"/>
                </a:solidFill>
                <a:latin typeface="Calibri"/>
              </a:defRPr>
            </a:pPr>
            <a:r>
              <a:t>Tests via WireMock stubs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51560"/>
            <a:ext cx="5669280" cy="2743200"/>
          </a:xfrm>
          <a:prstGeom prst="roundRect">
            <a:avLst/>
          </a:prstGeom>
          <a:solidFill>
            <a:srgbClr val="FEF9E7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0972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3A5F"/>
                </a:solidFill>
                <a:latin typeface="Calibri"/>
              </a:defRPr>
            </a:pPr>
            <a:r>
              <a:t>🔄  Spring Cloud Contract — Verification Engine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463040"/>
            <a:ext cx="24688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1508760"/>
            <a:ext cx="2286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3A5F"/>
                </a:solidFill>
                <a:latin typeface="Calibri"/>
              </a:defRPr>
            </a:pPr>
            <a:r>
              <a:t>PROVIDER SIDE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E3A5F"/>
                </a:solidFill>
                <a:latin typeface="Calibri"/>
              </a:defRPr>
            </a:pPr>
            <a:r>
              <a:t>SCC Verifier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400" b="0">
                <a:solidFill>
                  <a:srgbClr val="2C3E50"/>
                </a:solidFill>
                <a:latin typeface="Calibri"/>
              </a:defRPr>
            </a:pPr>
            <a:endParaRPr/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E3A5F"/>
                </a:solidFill>
                <a:latin typeface="Calibri"/>
              </a:defRPr>
            </a:pPr>
            <a:r>
              <a:t>↓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C3E50"/>
                </a:solidFill>
                <a:latin typeface="Calibri"/>
              </a:defRPr>
            </a:pPr>
            <a:r>
              <a:t>Reads contract YAMLs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E3A5F"/>
                </a:solidFill>
                <a:latin typeface="Calibri"/>
              </a:defRPr>
            </a:pPr>
            <a:r>
              <a:t>↓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C3E50"/>
                </a:solidFill>
                <a:latin typeface="Calibri"/>
              </a:defRPr>
            </a:pPr>
            <a:r>
              <a:t>Auto-generates JUnit tests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E3A5F"/>
                </a:solidFill>
                <a:latin typeface="Calibri"/>
              </a:defRPr>
            </a:pPr>
            <a:r>
              <a:t>↓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C3E50"/>
                </a:solidFill>
                <a:latin typeface="Calibri"/>
              </a:defRPr>
            </a:pPr>
            <a:r>
              <a:t>Tests REAL API (MockMvc)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E3A5F"/>
                </a:solidFill>
                <a:latin typeface="Calibri"/>
              </a:defRPr>
            </a:pPr>
            <a:r>
              <a:t>↓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ECC71"/>
                </a:solidFill>
                <a:latin typeface="Calibri"/>
              </a:defRPr>
            </a:pPr>
            <a:r>
              <a:t>✅ Pass → Stubs JAR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E74C3C"/>
                </a:solidFill>
                <a:latin typeface="Calibri"/>
              </a:defRPr>
            </a:pPr>
            <a:r>
              <a:t>❌ Fail → BUILD BLOCKED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23774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39C12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269748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7F8C8D"/>
                </a:solidFill>
                <a:latin typeface="Calibri"/>
              </a:defRPr>
            </a:pPr>
            <a:r>
              <a:t>Stubs JAR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0" y="1463040"/>
            <a:ext cx="24688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18320" y="1508760"/>
            <a:ext cx="2286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ECC71"/>
                </a:solidFill>
                <a:latin typeface="Calibri"/>
              </a:defRPr>
            </a:pPr>
            <a:r>
              <a:t>CONSUMER SIDE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ECC71"/>
                </a:solidFill>
                <a:latin typeface="Calibri"/>
              </a:defRPr>
            </a:pPr>
            <a:r>
              <a:t>Stub Runner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400" b="0">
                <a:solidFill>
                  <a:srgbClr val="2C3E50"/>
                </a:solidFill>
                <a:latin typeface="Calibri"/>
              </a:defRPr>
            </a:pPr>
            <a:endParaRPr/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ECC71"/>
                </a:solidFill>
                <a:latin typeface="Calibri"/>
              </a:defRPr>
            </a:pPr>
            <a:r>
              <a:t>↓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C3E50"/>
                </a:solidFill>
                <a:latin typeface="Calibri"/>
              </a:defRPr>
            </a:pPr>
            <a:r>
              <a:t>Loads stubs from JAR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ECC71"/>
                </a:solidFill>
                <a:latin typeface="Calibri"/>
              </a:defRPr>
            </a:pPr>
            <a:r>
              <a:t>↓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C3E50"/>
                </a:solidFill>
                <a:latin typeface="Calibri"/>
              </a:defRPr>
            </a:pPr>
            <a:r>
              <a:t>Starts WireMock (fake server)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ECC71"/>
                </a:solidFill>
                <a:latin typeface="Calibri"/>
              </a:defRPr>
            </a:pPr>
            <a:r>
              <a:t>↓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C3E50"/>
                </a:solidFill>
                <a:latin typeface="Calibri"/>
              </a:defRPr>
            </a:pPr>
            <a:r>
              <a:t>Consumer tests against stubs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ECC71"/>
                </a:solidFill>
                <a:latin typeface="Calibri"/>
              </a:defRPr>
            </a:pPr>
            <a:r>
              <a:t>↓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1E3A5F"/>
                </a:solidFill>
                <a:latin typeface="Calibri"/>
              </a:defRPr>
            </a:pPr>
            <a:r>
              <a:t>✅ Pass / ❌ Fail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7F8C8D"/>
                </a:solidFill>
                <a:latin typeface="Calibri"/>
              </a:defRPr>
            </a:pPr>
            <a:r>
              <a:t>No real Provider needed!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3931920"/>
            <a:ext cx="5669280" cy="2743200"/>
          </a:xfrm>
          <a:prstGeom prst="roundRect">
            <a:avLst/>
          </a:prstGeom>
          <a:solidFill>
            <a:srgbClr val="F5EEF8"/>
          </a:solidFill>
          <a:ln w="127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3977639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B59B6"/>
                </a:solidFill>
                <a:latin typeface="Calibri"/>
              </a:defRPr>
            </a:pPr>
            <a:r>
              <a:t>🤖  AI Agent — The Automation Engine (Python)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343400"/>
            <a:ext cx="283464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4389120"/>
            <a:ext cx="265176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B59B6"/>
                </a:solidFill>
                <a:latin typeface="Calibri"/>
              </a:defRPr>
            </a:pPr>
            <a:r>
              <a:t>5 CLI Commands: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300" b="0">
                <a:solidFill>
                  <a:srgbClr val="2C3E50"/>
                </a:solidFill>
                <a:latin typeface="Calibri"/>
              </a:defRPr>
            </a:pPr>
            <a:endParaRPr/>
          </a:p>
          <a:p>
            <a:pPr algn="l">
              <a:spcBef>
                <a:spcPts val="400"/>
              </a:spcBef>
              <a:spcAft>
                <a:spcPts val="0"/>
              </a:spcAft>
              <a:defRPr sz="850" b="1">
                <a:solidFill>
                  <a:srgbClr val="9B59B6"/>
                </a:solidFill>
                <a:latin typeface="Consolas"/>
              </a:defRPr>
            </a:pPr>
            <a:r>
              <a:t>  python main.py generate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2C3E50"/>
                </a:solidFill>
                <a:latin typeface="Calibri"/>
              </a:defRPr>
            </a:pPr>
            <a:r>
              <a:t>    → OpenAPI → Contract YAMLs</a:t>
            </a:r>
          </a:p>
          <a:p>
            <a:pPr algn="l">
              <a:spcBef>
                <a:spcPts val="400"/>
              </a:spcBef>
              <a:spcAft>
                <a:spcPts val="0"/>
              </a:spcAft>
              <a:defRPr sz="850" b="1">
                <a:solidFill>
                  <a:srgbClr val="9B59B6"/>
                </a:solidFill>
                <a:latin typeface="Consolas"/>
              </a:defRPr>
            </a:pPr>
            <a:r>
              <a:t>  python main.py drift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2C3E50"/>
                </a:solidFill>
                <a:latin typeface="Calibri"/>
              </a:defRPr>
            </a:pPr>
            <a:r>
              <a:t>    → Contracts vs API → Mismatches</a:t>
            </a:r>
          </a:p>
          <a:p>
            <a:pPr algn="l">
              <a:spcBef>
                <a:spcPts val="400"/>
              </a:spcBef>
              <a:spcAft>
                <a:spcPts val="0"/>
              </a:spcAft>
              <a:defRPr sz="850" b="1">
                <a:solidFill>
                  <a:srgbClr val="9B59B6"/>
                </a:solidFill>
                <a:latin typeface="Consolas"/>
              </a:defRPr>
            </a:pPr>
            <a:r>
              <a:t>  python main.py report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2C3E50"/>
                </a:solidFill>
                <a:latin typeface="Calibri"/>
              </a:defRPr>
            </a:pPr>
            <a:r>
              <a:t>    → Coverage % + Health Status</a:t>
            </a:r>
          </a:p>
          <a:p>
            <a:pPr algn="l">
              <a:spcBef>
                <a:spcPts val="400"/>
              </a:spcBef>
              <a:spcAft>
                <a:spcPts val="0"/>
              </a:spcAft>
              <a:defRPr sz="850" b="1">
                <a:solidFill>
                  <a:srgbClr val="9B59B6"/>
                </a:solidFill>
                <a:latin typeface="Consolas"/>
              </a:defRPr>
            </a:pPr>
            <a:r>
              <a:t>  python main.py validate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2C3E50"/>
                </a:solidFill>
                <a:latin typeface="Calibri"/>
              </a:defRPr>
            </a:pPr>
            <a:r>
              <a:t>    → CI-friendly exit codes (0/1/2)</a:t>
            </a:r>
          </a:p>
          <a:p>
            <a:pPr algn="l">
              <a:spcBef>
                <a:spcPts val="400"/>
              </a:spcBef>
              <a:spcAft>
                <a:spcPts val="0"/>
              </a:spcAft>
              <a:defRPr sz="850" b="1">
                <a:solidFill>
                  <a:srgbClr val="9B59B6"/>
                </a:solidFill>
                <a:latin typeface="Consolas"/>
              </a:defRPr>
            </a:pPr>
            <a:r>
              <a:t>  python main.py ci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2C3E50"/>
                </a:solidFill>
                <a:latin typeface="Calibri"/>
              </a:defRPr>
            </a:pPr>
            <a:r>
              <a:t>    → Generates .gitlab-ci.yml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74720" y="4343400"/>
            <a:ext cx="237744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566160" y="4389120"/>
            <a:ext cx="219456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B59B6"/>
                </a:solidFill>
                <a:latin typeface="Calibri"/>
              </a:defRPr>
            </a:pPr>
            <a:r>
              <a:t>5 Internal Modules: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300" b="0">
                <a:solidFill>
                  <a:srgbClr val="2C3E50"/>
                </a:solidFill>
                <a:latin typeface="Calibri"/>
              </a:defRPr>
            </a:pPr>
            <a:endParaRPr/>
          </a:p>
          <a:p>
            <a:pPr algn="l">
              <a:spcBef>
                <a:spcPts val="400"/>
              </a:spcBef>
              <a:spcAft>
                <a:spcPts val="0"/>
              </a:spcAft>
              <a:defRPr sz="850" b="1">
                <a:solidFill>
                  <a:srgbClr val="2C3E50"/>
                </a:solidFill>
                <a:latin typeface="Consolas"/>
              </a:defRPr>
            </a:pPr>
            <a:r>
              <a:t>  spec_reader.py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F8C8D"/>
                </a:solidFill>
                <a:latin typeface="Calibri"/>
              </a:defRPr>
            </a:pPr>
            <a:r>
              <a:t>    Fetch &amp; parse OpenAPI</a:t>
            </a:r>
          </a:p>
          <a:p>
            <a:pPr algn="l">
              <a:spcBef>
                <a:spcPts val="400"/>
              </a:spcBef>
              <a:spcAft>
                <a:spcPts val="0"/>
              </a:spcAft>
              <a:defRPr sz="850" b="1">
                <a:solidFill>
                  <a:srgbClr val="2C3E50"/>
                </a:solidFill>
                <a:latin typeface="Consolas"/>
              </a:defRPr>
            </a:pPr>
            <a:r>
              <a:t>  contract_generator.py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F8C8D"/>
                </a:solidFill>
                <a:latin typeface="Calibri"/>
              </a:defRPr>
            </a:pPr>
            <a:r>
              <a:t>    Generate SCC YAMLs</a:t>
            </a:r>
          </a:p>
          <a:p>
            <a:pPr algn="l">
              <a:spcBef>
                <a:spcPts val="400"/>
              </a:spcBef>
              <a:spcAft>
                <a:spcPts val="0"/>
              </a:spcAft>
              <a:defRPr sz="850" b="1">
                <a:solidFill>
                  <a:srgbClr val="2C3E50"/>
                </a:solidFill>
                <a:latin typeface="Consolas"/>
              </a:defRPr>
            </a:pPr>
            <a:r>
              <a:t>  drift_detector.py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F8C8D"/>
                </a:solidFill>
                <a:latin typeface="Calibri"/>
              </a:defRPr>
            </a:pPr>
            <a:r>
              <a:t>    Find mismatches</a:t>
            </a:r>
          </a:p>
          <a:p>
            <a:pPr algn="l">
              <a:spcBef>
                <a:spcPts val="400"/>
              </a:spcBef>
              <a:spcAft>
                <a:spcPts val="0"/>
              </a:spcAft>
              <a:defRPr sz="850" b="1">
                <a:solidFill>
                  <a:srgbClr val="2C3E50"/>
                </a:solidFill>
                <a:latin typeface="Consolas"/>
              </a:defRPr>
            </a:pPr>
            <a:r>
              <a:t>  report_generator.py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F8C8D"/>
                </a:solidFill>
                <a:latin typeface="Calibri"/>
              </a:defRPr>
            </a:pPr>
            <a:r>
              <a:t>    Coverage &amp; remediation</a:t>
            </a:r>
          </a:p>
          <a:p>
            <a:pPr algn="l">
              <a:spcBef>
                <a:spcPts val="400"/>
              </a:spcBef>
              <a:spcAft>
                <a:spcPts val="0"/>
              </a:spcAft>
              <a:defRPr sz="850" b="1">
                <a:solidFill>
                  <a:srgbClr val="2C3E50"/>
                </a:solidFill>
                <a:latin typeface="Consolas"/>
              </a:defRPr>
            </a:pPr>
            <a:r>
              <a:t>  ci_config_generator.py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F8C8D"/>
                </a:solidFill>
                <a:latin typeface="Calibri"/>
              </a:defRPr>
            </a:pPr>
            <a:r>
              <a:t>    Pipeline YAML gen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931920"/>
            <a:ext cx="5669280" cy="2743200"/>
          </a:xfrm>
          <a:prstGeom prst="roundRect">
            <a:avLst/>
          </a:prstGeom>
          <a:solidFill>
            <a:srgbClr val="FEF9E7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0" y="3977639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3A5F"/>
                </a:solidFill>
                <a:latin typeface="Calibri"/>
              </a:defRPr>
            </a:pPr>
            <a:r>
              <a:t>🚀  CI/CD Pipeline — 7 Jobs, 4 Stages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4389120"/>
            <a:ext cx="12344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46520" y="443484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3A5F"/>
                </a:solidFill>
                <a:latin typeface="Calibri"/>
              </a:defRPr>
            </a:pPr>
            <a:r>
              <a:t>BUILD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300" b="0">
                <a:solidFill>
                  <a:srgbClr val="2C3E50"/>
                </a:solidFill>
                <a:latin typeface="Calibri"/>
              </a:defRPr>
            </a:pPr>
            <a:endParaRPr/>
          </a:p>
          <a:p>
            <a:pPr algn="l">
              <a:spcBef>
                <a:spcPts val="200"/>
              </a:spcBef>
              <a:spcAft>
                <a:spcPts val="0"/>
              </a:spcAft>
              <a:defRPr sz="800" b="0">
                <a:solidFill>
                  <a:srgbClr val="2C3E50"/>
                </a:solidFill>
                <a:latin typeface="Calibri"/>
              </a:defRPr>
            </a:pPr>
            <a:r>
              <a:t>• provider-build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800" b="0">
                <a:solidFill>
                  <a:srgbClr val="2C3E50"/>
                </a:solidFill>
                <a:latin typeface="Calibri"/>
              </a:defRPr>
            </a:pPr>
            <a:r>
              <a:t>• consumer-build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800" b="0">
                <a:solidFill>
                  <a:srgbClr val="2C3E50"/>
                </a:solidFill>
                <a:latin typeface="Calibri"/>
              </a:defRPr>
            </a:pPr>
            <a:r>
              <a:t>  mvn compile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5240" y="52120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3A5F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0" y="4389120"/>
            <a:ext cx="12344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818120" y="443484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ECC71"/>
                </a:solidFill>
                <a:latin typeface="Calibri"/>
              </a:defRPr>
            </a:pPr>
            <a:r>
              <a:t>TEST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300" b="0">
                <a:solidFill>
                  <a:srgbClr val="2C3E50"/>
                </a:solidFill>
                <a:latin typeface="Calibri"/>
              </a:defRPr>
            </a:pPr>
            <a:endParaRPr/>
          </a:p>
          <a:p>
            <a:pPr algn="l">
              <a:spcBef>
                <a:spcPts val="200"/>
              </a:spcBef>
              <a:spcAft>
                <a:spcPts val="0"/>
              </a:spcAft>
              <a:defRPr sz="800" b="0">
                <a:solidFill>
                  <a:srgbClr val="2C3E50"/>
                </a:solidFill>
                <a:latin typeface="Calibri"/>
              </a:defRPr>
            </a:pPr>
            <a:r>
              <a:t>• provider-contract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800" b="0">
                <a:solidFill>
                  <a:srgbClr val="2C3E50"/>
                </a:solidFill>
                <a:latin typeface="Calibri"/>
              </a:defRPr>
            </a:pPr>
            <a:r>
              <a:t>• consumer-contract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800" b="0">
                <a:solidFill>
                  <a:srgbClr val="2C3E50"/>
                </a:solidFill>
                <a:latin typeface="Calibri"/>
              </a:defRPr>
            </a:pPr>
            <a:r>
              <a:t>• ai-agent-drift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06840" y="52120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CC71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0" y="4389120"/>
            <a:ext cx="12344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89720" y="443484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9B59B6"/>
                </a:solidFill>
                <a:latin typeface="Calibri"/>
              </a:defRPr>
            </a:pPr>
            <a:r>
              <a:t>REPORT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300" b="0">
                <a:solidFill>
                  <a:srgbClr val="2C3E50"/>
                </a:solidFill>
                <a:latin typeface="Calibri"/>
              </a:defRPr>
            </a:pPr>
            <a:endParaRPr/>
          </a:p>
          <a:p>
            <a:pPr algn="l">
              <a:spcBef>
                <a:spcPts val="200"/>
              </a:spcBef>
              <a:spcAft>
                <a:spcPts val="0"/>
              </a:spcAft>
              <a:defRPr sz="800" b="0">
                <a:solidFill>
                  <a:srgbClr val="2C3E50"/>
                </a:solidFill>
                <a:latin typeface="Calibri"/>
              </a:defRPr>
            </a:pPr>
            <a:r>
              <a:t>• contract-report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800" b="0">
                <a:solidFill>
                  <a:srgbClr val="2C3E50"/>
                </a:solidFill>
                <a:latin typeface="Calibri"/>
              </a:defRPr>
            </a:pPr>
            <a:r>
              <a:t>  JUnit XMLs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800" b="0">
                <a:solidFill>
                  <a:srgbClr val="2C3E50"/>
                </a:solidFill>
                <a:latin typeface="Calibri"/>
              </a:defRPr>
            </a:pPr>
            <a:r>
              <a:t>  Summary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78440" y="52120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9B59B6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515600" y="4389120"/>
            <a:ext cx="12344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561320" y="443484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39C12"/>
                </a:solidFill>
                <a:latin typeface="Calibri"/>
              </a:defRPr>
            </a:pPr>
            <a:r>
              <a:t>DEPLOY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300" b="0">
                <a:solidFill>
                  <a:srgbClr val="2C3E50"/>
                </a:solidFill>
                <a:latin typeface="Calibri"/>
              </a:defRPr>
            </a:pPr>
            <a:endParaRPr/>
          </a:p>
          <a:p>
            <a:pPr algn="l">
              <a:spcBef>
                <a:spcPts val="200"/>
              </a:spcBef>
              <a:spcAft>
                <a:spcPts val="0"/>
              </a:spcAft>
              <a:defRPr sz="800" b="0">
                <a:solidFill>
                  <a:srgbClr val="2C3E50"/>
                </a:solidFill>
                <a:latin typeface="Calibri"/>
              </a:defRPr>
            </a:pPr>
            <a:r>
              <a:t>• Gated deploy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800" b="0">
                <a:solidFill>
                  <a:srgbClr val="2C3E50"/>
                </a:solidFill>
                <a:latin typeface="Calibri"/>
              </a:defRPr>
            </a:pPr>
            <a:r>
              <a:t>  Tests must pass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800" b="0">
                <a:solidFill>
                  <a:srgbClr val="2C3E50"/>
                </a:solidFill>
                <a:latin typeface="Calibri"/>
              </a:defRPr>
            </a:pPr>
            <a:r>
              <a:t>  main branch only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60807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Calibri"/>
              </a:defRPr>
            </a:pPr>
            <a:r>
              <a:rPr dirty="0"/>
              <a:t>⭐ Maven caching  •  Stubs JAR artifacts  •  JUnit in MR UI  •  Gated deployment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Results, Live Demo Proof &amp;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960120"/>
            <a:ext cx="18288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ECC71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463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C3E50"/>
                </a:solidFill>
                <a:latin typeface="Calibri"/>
              </a:defRPr>
            </a:pPr>
            <a:r>
              <a:t>API Coverage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691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7F8C8D"/>
                </a:solidFill>
                <a:latin typeface="Calibri"/>
              </a:defRPr>
            </a:pPr>
            <a:r>
              <a:t>All 5 endpoints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40279" y="960120"/>
            <a:ext cx="18288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40279" y="10058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E3A5F"/>
                </a:solidFill>
                <a:latin typeface="Calibri"/>
              </a:defRPr>
            </a:pPr>
            <a:r>
              <a:t>6/6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79" y="1463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C3E50"/>
                </a:solidFill>
                <a:latin typeface="Calibri"/>
              </a:defRPr>
            </a:pPr>
            <a:r>
              <a:t>Provider Tests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79" y="1691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7F8C8D"/>
                </a:solidFill>
                <a:latin typeface="Calibri"/>
              </a:defRPr>
            </a:pPr>
            <a:r>
              <a:t>5 contract + 1 smoke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960120"/>
            <a:ext cx="18288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06240" y="10058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E3A5F"/>
                </a:solidFill>
                <a:latin typeface="Calibri"/>
              </a:defRPr>
            </a:pPr>
            <a:r>
              <a:t>2/2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1463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C3E50"/>
                </a:solidFill>
                <a:latin typeface="Calibri"/>
              </a:defRPr>
            </a:pPr>
            <a:r>
              <a:t>Consumer Tests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1691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7F8C8D"/>
                </a:solidFill>
                <a:latin typeface="Calibri"/>
              </a:defRPr>
            </a:pPr>
            <a:r>
              <a:t>1 contract + 1 smoke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199" y="960120"/>
            <a:ext cx="18288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72199" y="10058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9B59B6"/>
                </a:solidFill>
                <a:latin typeface="Calibri"/>
              </a:defRPr>
            </a:pPr>
            <a:r>
              <a:t>2 of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199" y="1463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C3E50"/>
                </a:solidFill>
                <a:latin typeface="Calibri"/>
              </a:defRPr>
            </a:pPr>
            <a:r>
              <a:t>AI-Generated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199" y="1691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7F8C8D"/>
                </a:solidFill>
                <a:latin typeface="Calibri"/>
              </a:defRPr>
            </a:pPr>
            <a:r>
              <a:t>PUT + DELETE contracts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960120"/>
            <a:ext cx="18288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38160" y="10058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39C12"/>
                </a:solidFill>
                <a:latin typeface="Calibri"/>
              </a:defRPr>
            </a:pPr>
            <a:r>
              <a:t>7 Jobs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1463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C3E50"/>
                </a:solidFill>
                <a:latin typeface="Calibri"/>
              </a:defRPr>
            </a:pPr>
            <a:r>
              <a:t>CI/CD Pipeline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1691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7F8C8D"/>
                </a:solidFill>
                <a:latin typeface="Calibri"/>
              </a:defRPr>
            </a:pPr>
            <a:r>
              <a:t>4 stages, fully auto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104120" y="960120"/>
            <a:ext cx="18288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104120" y="10058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ECC71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04120" y="1463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C3E50"/>
                </a:solidFill>
                <a:latin typeface="Calibri"/>
              </a:defRPr>
            </a:pPr>
            <a:r>
              <a:t>Health Status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04120" y="1691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7F8C8D"/>
                </a:solidFill>
                <a:latin typeface="Calibri"/>
              </a:defRPr>
            </a:pPr>
            <a:r>
              <a:t>No drift, no orphans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" y="2286000"/>
            <a:ext cx="5669280" cy="2926080"/>
          </a:xfrm>
          <a:prstGeom prst="roundRect">
            <a:avLst/>
          </a:prstGeom>
          <a:solidFill>
            <a:srgbClr val="FDEDEC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23317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4C3C"/>
                </a:solidFill>
                <a:latin typeface="Calibri"/>
              </a:defRPr>
            </a:pPr>
            <a:r>
              <a:t>🚨  Live Proof — Breaking Change Caught at Build Time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2697480"/>
            <a:ext cx="260604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8640" y="2743200"/>
            <a:ext cx="242316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ECC71"/>
                </a:solidFill>
                <a:latin typeface="Calibri"/>
              </a:defRPr>
            </a:pPr>
            <a:r>
              <a:t>BEFORE  ✅  (Original)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400" b="0">
                <a:solidFill>
                  <a:srgbClr val="2C3E50"/>
                </a:solidFill>
                <a:latin typeface="Calibri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response: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  body: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ECC71"/>
                </a:solidFill>
                <a:latin typeface="Consolas"/>
              </a:defRPr>
            </a:pPr>
            <a:r>
              <a:t>    name: "Alice Johnson"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2C3E50"/>
                </a:solidFill>
                <a:latin typeface="Calibri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C3E50"/>
                </a:solidFill>
                <a:latin typeface="Consolas"/>
              </a:defRPr>
            </a:pPr>
            <a:r>
              <a:t>$ mvn clean test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300" b="0">
                <a:solidFill>
                  <a:srgbClr val="2C3E50"/>
                </a:solidFill>
                <a:latin typeface="Calibri"/>
              </a:defRPr>
            </a:pPr>
            <a:endParaRPr/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ECC71"/>
                </a:solidFill>
                <a:latin typeface="Calibri"/>
              </a:defRPr>
            </a:pPr>
            <a:r>
              <a:t>BUILD SUCCESS  ✅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F8C8D"/>
                </a:solidFill>
                <a:latin typeface="Calibri"/>
              </a:defRPr>
            </a:pPr>
            <a:r>
              <a:t>All contracts verified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08960" y="36576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74C3C"/>
                </a:solidFill>
                <a:latin typeface="Calibri"/>
              </a:defRPr>
            </a:pPr>
            <a:r>
              <a:t>➡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29000" y="2697480"/>
            <a:ext cx="242316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520440" y="2743200"/>
            <a:ext cx="224028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74C3C"/>
                </a:solidFill>
                <a:latin typeface="Calibri"/>
              </a:defRPr>
            </a:pPr>
            <a:r>
              <a:t>AFTER  ❌  (Breaking Change)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400" b="0">
                <a:solidFill>
                  <a:srgbClr val="2C3E50"/>
                </a:solidFill>
                <a:latin typeface="Calibri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response: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  body: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E74C3C"/>
                </a:solidFill>
                <a:latin typeface="Consolas"/>
              </a:defRPr>
            </a:pPr>
            <a:r>
              <a:t>    fullName: "Alice..."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2C3E50"/>
                </a:solidFill>
                <a:latin typeface="Calibri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C3E50"/>
                </a:solidFill>
                <a:latin typeface="Consolas"/>
              </a:defRPr>
            </a:pPr>
            <a:r>
              <a:t>$ mvn clean test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300" b="0">
                <a:solidFill>
                  <a:srgbClr val="2C3E50"/>
                </a:solidFill>
                <a:latin typeface="Calibri"/>
              </a:defRPr>
            </a:pPr>
            <a:endParaRPr/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74C3C"/>
                </a:solidFill>
                <a:latin typeface="Calibri"/>
              </a:defRPr>
            </a:pPr>
            <a:r>
              <a:t>BUILD FAILURE  ❌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E74C3C"/>
                </a:solidFill>
                <a:latin typeface="Calibri"/>
              </a:defRPr>
            </a:pPr>
            <a:r>
              <a:t>DEPLOYMENT BLOCKED 🚫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2286000"/>
            <a:ext cx="566928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00800" y="23317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3A5F"/>
                </a:solidFill>
                <a:latin typeface="Calibri"/>
              </a:defRPr>
            </a:pPr>
            <a:r>
              <a:t>Impact Comparison: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260604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74C3C"/>
                </a:solidFill>
                <a:latin typeface="Calibri"/>
              </a:defRPr>
            </a:pPr>
            <a:r>
              <a:t>Without Contract Testing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defRPr sz="850" b="0">
                <a:solidFill>
                  <a:srgbClr val="2C3E50"/>
                </a:solidFill>
                <a:latin typeface="Calibri"/>
              </a:defRPr>
            </a:pPr>
            <a:r>
              <a:t>❌ Breaking changes reach prod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defRPr sz="850" b="0">
                <a:solidFill>
                  <a:srgbClr val="2C3E50"/>
                </a:solidFill>
                <a:latin typeface="Calibri"/>
              </a:defRPr>
            </a:pPr>
            <a:r>
              <a:t>❌ Consumers break silently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defRPr sz="850" b="0">
                <a:solidFill>
                  <a:srgbClr val="2C3E50"/>
                </a:solidFill>
                <a:latin typeface="Calibri"/>
              </a:defRPr>
            </a:pPr>
            <a:r>
              <a:t>❌ Hours/days debugging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defRPr sz="850" b="0">
                <a:solidFill>
                  <a:srgbClr val="2C3E50"/>
                </a:solidFill>
                <a:latin typeface="Calibri"/>
              </a:defRPr>
            </a:pPr>
            <a:r>
              <a:t>❌ Manual team coordination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60604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ECC71"/>
                </a:solidFill>
                <a:latin typeface="Calibri"/>
              </a:defRPr>
            </a:pPr>
            <a:r>
              <a:t>With Contract Testing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defRPr sz="850" b="0">
                <a:solidFill>
                  <a:srgbClr val="2C3E50"/>
                </a:solidFill>
                <a:latin typeface="Calibri"/>
              </a:defRPr>
            </a:pPr>
            <a:r>
              <a:t>✅ Build fails immediately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defRPr sz="850" b="0">
                <a:solidFill>
                  <a:srgbClr val="2C3E50"/>
                </a:solidFill>
                <a:latin typeface="Calibri"/>
              </a:defRPr>
            </a:pPr>
            <a:r>
              <a:t>✅ Both sides catch drift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defRPr sz="850" b="0">
                <a:solidFill>
                  <a:srgbClr val="2C3E50"/>
                </a:solidFill>
                <a:latin typeface="Calibri"/>
              </a:defRPr>
            </a:pPr>
            <a:r>
              <a:t>✅ Instant feedback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defRPr sz="850" b="0">
                <a:solidFill>
                  <a:srgbClr val="2C3E50"/>
                </a:solidFill>
                <a:latin typeface="Calibri"/>
              </a:defRPr>
            </a:pPr>
            <a:r>
              <a:t>✅ Fully automated verification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3977639"/>
            <a:ext cx="5669280" cy="123444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00800" y="40233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3A5F"/>
                </a:solidFill>
                <a:latin typeface="Calibri"/>
              </a:defRPr>
            </a:pPr>
            <a:r>
              <a:t>📋  Project Phases (7/9 Complete — 78%)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92240" y="4343400"/>
            <a:ext cx="502920" cy="365760"/>
          </a:xfrm>
          <a:prstGeom prst="roundRect">
            <a:avLst/>
          </a:prstGeom>
          <a:solidFill>
            <a:srgbClr val="2ECC71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92240" y="4361688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470916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>
                <a:solidFill>
                  <a:srgbClr val="2C3E50"/>
                </a:solidFill>
                <a:latin typeface="Calibri"/>
              </a:defRPr>
            </a:pPr>
            <a:r>
              <a:t>Problem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086600" y="4343400"/>
            <a:ext cx="502920" cy="365760"/>
          </a:xfrm>
          <a:prstGeom prst="roundRect">
            <a:avLst/>
          </a:prstGeom>
          <a:solidFill>
            <a:srgbClr val="2ECC71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086600" y="4361688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86600" y="470916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>
                <a:solidFill>
                  <a:srgbClr val="2C3E50"/>
                </a:solidFill>
                <a:latin typeface="Calibri"/>
              </a:defRPr>
            </a:pPr>
            <a:r>
              <a:t>OpenAPI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680960" y="4343400"/>
            <a:ext cx="502920" cy="365760"/>
          </a:xfrm>
          <a:prstGeom prst="roundRect">
            <a:avLst/>
          </a:prstGeom>
          <a:solidFill>
            <a:srgbClr val="2ECC71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680960" y="4361688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80960" y="470916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>
                <a:solidFill>
                  <a:srgbClr val="2C3E50"/>
                </a:solidFill>
                <a:latin typeface="Calibri"/>
              </a:defRPr>
            </a:pPr>
            <a:r>
              <a:t>Provider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275320" y="4343400"/>
            <a:ext cx="502920" cy="365760"/>
          </a:xfrm>
          <a:prstGeom prst="roundRect">
            <a:avLst/>
          </a:prstGeom>
          <a:solidFill>
            <a:srgbClr val="2ECC71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275320" y="4361688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75320" y="470916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>
                <a:solidFill>
                  <a:srgbClr val="2C3E50"/>
                </a:solidFill>
                <a:latin typeface="Calibri"/>
              </a:defRPr>
            </a:pPr>
            <a:r>
              <a:t>Consumer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869680" y="4343400"/>
            <a:ext cx="502920" cy="365760"/>
          </a:xfrm>
          <a:prstGeom prst="roundRect">
            <a:avLst/>
          </a:prstGeom>
          <a:solidFill>
            <a:srgbClr val="2ECC71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869680" y="4361688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69680" y="470916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>
                <a:solidFill>
                  <a:srgbClr val="2C3E50"/>
                </a:solidFill>
                <a:latin typeface="Calibri"/>
              </a:defRPr>
            </a:pPr>
            <a:r>
              <a:t>Contract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464040" y="4343400"/>
            <a:ext cx="502920" cy="365760"/>
          </a:xfrm>
          <a:prstGeom prst="roundRect">
            <a:avLst/>
          </a:prstGeom>
          <a:solidFill>
            <a:srgbClr val="2ECC71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464040" y="4361688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464040" y="470916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>
                <a:solidFill>
                  <a:srgbClr val="2C3E50"/>
                </a:solidFill>
                <a:latin typeface="Calibri"/>
              </a:defRPr>
            </a:pPr>
            <a:r>
              <a:t>Breaking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058400" y="4343400"/>
            <a:ext cx="502920" cy="365760"/>
          </a:xfrm>
          <a:prstGeom prst="roundRect">
            <a:avLst/>
          </a:prstGeom>
          <a:solidFill>
            <a:srgbClr val="2ECC71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0058400" y="4361688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058400" y="470916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>
                <a:solidFill>
                  <a:srgbClr val="2C3E50"/>
                </a:solidFill>
                <a:latin typeface="Calibri"/>
              </a:defRPr>
            </a:pPr>
            <a:r>
              <a:t>AI Agent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652759" y="4343400"/>
            <a:ext cx="50292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0652759" y="4361688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39C12"/>
                </a:solidFill>
                <a:latin typeface="Calibri"/>
              </a:defRPr>
            </a:pPr>
            <a:r>
              <a:t>🔄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652759" y="470916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>
                <a:solidFill>
                  <a:srgbClr val="2C3E50"/>
                </a:solidFill>
                <a:latin typeface="Calibri"/>
              </a:defRPr>
            </a:pPr>
            <a:r>
              <a:t>CI/CD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1247120" y="4343400"/>
            <a:ext cx="50292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11247120" y="4361688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  <a:latin typeface="Calibri"/>
              </a:defRPr>
            </a:pPr>
            <a:r>
              <a:t>📋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247120" y="470916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>
                <a:solidFill>
                  <a:srgbClr val="2C3E50"/>
                </a:solidFill>
                <a:latin typeface="Calibri"/>
              </a:defRPr>
            </a:pPr>
            <a:r>
              <a:t>Reports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217920" y="5349240"/>
            <a:ext cx="56692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400800" y="53949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3A5F"/>
                </a:solidFill>
                <a:latin typeface="Calibri"/>
              </a:defRPr>
            </a:pPr>
            <a:r>
              <a:t>🔧  Tech Stack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00800" y="56692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C3E50"/>
                </a:solidFill>
                <a:latin typeface="Calibri"/>
              </a:defRPr>
            </a:pPr>
            <a:r>
              <a:t>Backend: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800" b="0">
                <a:solidFill>
                  <a:srgbClr val="7F8C8D"/>
                </a:solidFill>
                <a:latin typeface="Calibri"/>
              </a:defRPr>
            </a:pPr>
            <a:r>
              <a:t>Java 25 + Spring Boot 3.2.5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800" b="0">
                <a:solidFill>
                  <a:srgbClr val="7F8C8D"/>
                </a:solidFill>
                <a:latin typeface="Calibri"/>
              </a:defRPr>
            </a:pPr>
            <a:r>
              <a:t>Maven 3.9.12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800" b="0">
                <a:solidFill>
                  <a:srgbClr val="7F8C8D"/>
                </a:solidFill>
                <a:latin typeface="Calibri"/>
              </a:defRPr>
            </a:pPr>
            <a:r>
              <a:t>Jakarta Validation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229600" y="56692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C3E50"/>
                </a:solidFill>
                <a:latin typeface="Calibri"/>
              </a:defRPr>
            </a:pPr>
            <a:r>
              <a:t>Contract Testing: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800" b="0">
                <a:solidFill>
                  <a:srgbClr val="7F8C8D"/>
                </a:solidFill>
                <a:latin typeface="Calibri"/>
              </a:defRPr>
            </a:pPr>
            <a:r>
              <a:t>Spring Cloud Contract 4.1.3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800" b="0">
                <a:solidFill>
                  <a:srgbClr val="7F8C8D"/>
                </a:solidFill>
                <a:latin typeface="Calibri"/>
              </a:defRPr>
            </a:pPr>
            <a:r>
              <a:t>REST Assured + WireMock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800" b="0">
                <a:solidFill>
                  <a:srgbClr val="7F8C8D"/>
                </a:solidFill>
                <a:latin typeface="Calibri"/>
              </a:defRPr>
            </a:pPr>
            <a:r>
              <a:t>OpenAPI / Swagger 3.0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149840" y="566928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C3E50"/>
                </a:solidFill>
                <a:latin typeface="Calibri"/>
              </a:defRPr>
            </a:pPr>
            <a:r>
              <a:t>Automation: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800" b="0">
                <a:solidFill>
                  <a:srgbClr val="7F8C8D"/>
                </a:solidFill>
                <a:latin typeface="Calibri"/>
              </a:defRPr>
            </a:pPr>
            <a:r>
              <a:t>Python 3.14 AI Agent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800" b="0">
                <a:solidFill>
                  <a:srgbClr val="7F8C8D"/>
                </a:solidFill>
                <a:latin typeface="Calibri"/>
              </a:defRPr>
            </a:pPr>
            <a:r>
              <a:t>GitLab CI/CD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800" b="0">
                <a:solidFill>
                  <a:srgbClr val="7F8C8D"/>
                </a:solidFill>
                <a:latin typeface="Calibri"/>
              </a:defRPr>
            </a:pPr>
            <a:r>
              <a:t>Git (GitHub + GitLab)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274320" y="5349240"/>
            <a:ext cx="5669280" cy="1325880"/>
          </a:xfrm>
          <a:prstGeom prst="roundRect">
            <a:avLst/>
          </a:prstGeom>
          <a:solidFill>
            <a:srgbClr val="EAFAEF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457200" y="53949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CC71"/>
                </a:solidFill>
                <a:latin typeface="Calibri"/>
              </a:defRPr>
            </a:pPr>
            <a:r>
              <a:t>🚀  What's Next (Roadmap)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400" b="0">
                <a:solidFill>
                  <a:srgbClr val="2C3E50"/>
                </a:solidFill>
                <a:latin typeface="Calibri"/>
              </a:defRPr>
            </a:pPr>
            <a:endParaRPr/>
          </a:p>
          <a:p>
            <a:pPr algn="l">
              <a:spcBef>
                <a:spcPts val="300"/>
              </a:spcBef>
              <a:spcAft>
                <a:spcPts val="0"/>
              </a:spcAft>
              <a:defRPr sz="950" b="0">
                <a:solidFill>
                  <a:srgbClr val="2C3E50"/>
                </a:solidFill>
                <a:latin typeface="Calibri"/>
              </a:defRPr>
            </a:pPr>
            <a:r>
              <a:t>🔄  Phase 8: Run &amp; verify full pipeline end-to-end on GitLab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defRPr sz="950" b="0">
                <a:solidFill>
                  <a:srgbClr val="2C3E50"/>
                </a:solidFill>
                <a:latin typeface="Calibri"/>
              </a:defRPr>
            </a:pPr>
            <a:r>
              <a:t>📊  Phase 9: Dashboard UI for contract health over time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defRPr sz="950" b="0">
                <a:solidFill>
                  <a:srgbClr val="2C3E50"/>
                </a:solidFill>
                <a:latin typeface="Calibri"/>
              </a:defRPr>
            </a:pPr>
            <a:r>
              <a:t>📝  Automated MR creation for contract updates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defRPr sz="950" b="0">
                <a:solidFill>
                  <a:srgbClr val="2C3E50"/>
                </a:solidFill>
                <a:latin typeface="Calibri"/>
              </a:defRPr>
            </a:pPr>
            <a:r>
              <a:t>🔔  Team notifications (Slack/email) on contract failure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1006</Words>
  <Application>Microsoft Office PowerPoint</Application>
  <PresentationFormat>Widescreen</PresentationFormat>
  <Paragraphs>235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 Kumar, Druva</cp:lastModifiedBy>
  <cp:revision>3</cp:revision>
  <dcterms:created xsi:type="dcterms:W3CDTF">2013-01-27T09:14:16Z</dcterms:created>
  <dcterms:modified xsi:type="dcterms:W3CDTF">2026-03-26T11:06:45Z</dcterms:modified>
  <cp:category/>
</cp:coreProperties>
</file>