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4660"/>
  </p:normalViewPr>
  <p:slideViewPr>
    <p:cSldViewPr snapToGrid="0" snapToObjects="1">
      <p:cViewPr varScale="1">
        <p:scale>
          <a:sx n="90" d="100"/>
          <a:sy n="90" d="100"/>
        </p:scale>
        <p:origin x="365"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0972800" cy="502920"/>
          </a:xfrm>
          <a:prstGeom prst="rect">
            <a:avLst/>
          </a:prstGeom>
          <a:noFill/>
        </p:spPr>
        <p:txBody>
          <a:bodyPr wrap="square">
            <a:spAutoFit/>
          </a:bodyPr>
          <a:lstStyle/>
          <a:p>
            <a:pPr algn="l">
              <a:defRPr sz="3200" b="1">
                <a:solidFill>
                  <a:srgbClr val="FFFFFF"/>
                </a:solidFill>
                <a:latin typeface="Calibri"/>
              </a:defRPr>
            </a:pPr>
            <a:r>
              <a:t>Contract Testing Automation with AI Agents</a:t>
            </a:r>
          </a:p>
        </p:txBody>
      </p:sp>
      <p:sp>
        <p:nvSpPr>
          <p:cNvPr id="4" name="TextBox 3"/>
          <p:cNvSpPr txBox="1"/>
          <p:nvPr/>
        </p:nvSpPr>
        <p:spPr>
          <a:xfrm>
            <a:off x="457200" y="640080"/>
            <a:ext cx="11430000" cy="777240"/>
          </a:xfrm>
          <a:prstGeom prst="rect">
            <a:avLst/>
          </a:prstGeom>
          <a:noFill/>
        </p:spPr>
        <p:txBody>
          <a:bodyPr wrap="square">
            <a:spAutoFit/>
          </a:bodyPr>
          <a:lstStyle/>
          <a:p>
            <a:pPr algn="l">
              <a:defRPr sz="1300" b="0">
                <a:solidFill>
                  <a:srgbClr val="BDCFE4"/>
                </a:solidFill>
                <a:latin typeface="Calibri"/>
              </a:defRPr>
            </a:pPr>
            <a:r>
              <a:rPr dirty="0"/>
              <a:t>Automated Consumer-Provider API Contract Verification — Catching breaking API changes at build time before they reach production</a:t>
            </a:r>
          </a:p>
          <a:p>
            <a:pPr algn="l">
              <a:spcBef>
                <a:spcPts val="0"/>
              </a:spcBef>
              <a:spcAft>
                <a:spcPts val="0"/>
              </a:spcAft>
              <a:defRPr sz="1000" b="0">
                <a:solidFill>
                  <a:srgbClr val="8AA5BF"/>
                </a:solidFill>
                <a:latin typeface="Calibri"/>
              </a:defRPr>
            </a:pPr>
            <a:r>
              <a:rPr dirty="0"/>
              <a:t>Java 25  •  Spring Boot 3.2.5  •  Spring Cloud Contract 4.1.3  •  Maven 3.9.12  •  Python 3.14  •  REST Assured  •  </a:t>
            </a:r>
            <a:r>
              <a:rPr dirty="0" err="1"/>
              <a:t>WireMock</a:t>
            </a:r>
            <a:r>
              <a:rPr dirty="0"/>
              <a:t>  •  </a:t>
            </a:r>
            <a:r>
              <a:rPr dirty="0" err="1"/>
              <a:t>OpenAPI</a:t>
            </a:r>
            <a:r>
              <a:rPr dirty="0"/>
              <a:t> 3.0  •  GitLab CI/CD</a:t>
            </a:r>
          </a:p>
        </p:txBody>
      </p:sp>
      <p:sp>
        <p:nvSpPr>
          <p:cNvPr id="5" name="Rounded Rectangle 4"/>
          <p:cNvSpPr/>
          <p:nvPr/>
        </p:nvSpPr>
        <p:spPr>
          <a:xfrm>
            <a:off x="228600" y="1645920"/>
            <a:ext cx="5760720" cy="5029200"/>
          </a:xfrm>
          <a:prstGeom prst="roundRect">
            <a:avLst>
              <a:gd name="adj" fmla="val 4546"/>
            </a:avLst>
          </a:prstGeom>
          <a:solidFill>
            <a:srgbClr val="FDEDEC"/>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1691640"/>
            <a:ext cx="5394960" cy="400110"/>
          </a:xfrm>
          <a:prstGeom prst="rect">
            <a:avLst/>
          </a:prstGeom>
          <a:noFill/>
        </p:spPr>
        <p:txBody>
          <a:bodyPr wrap="square">
            <a:spAutoFit/>
          </a:bodyPr>
          <a:lstStyle/>
          <a:p>
            <a:pPr algn="l">
              <a:defRPr sz="2000" b="1">
                <a:solidFill>
                  <a:srgbClr val="E74C3C"/>
                </a:solidFill>
                <a:latin typeface="Calibri"/>
              </a:defRPr>
            </a:pPr>
            <a:r>
              <a:rPr dirty="0"/>
              <a:t>THE PROBLEM — Why This Project Was Needed</a:t>
            </a:r>
          </a:p>
        </p:txBody>
      </p:sp>
      <p:sp>
        <p:nvSpPr>
          <p:cNvPr id="7" name="TextBox 6"/>
          <p:cNvSpPr txBox="1"/>
          <p:nvPr/>
        </p:nvSpPr>
        <p:spPr>
          <a:xfrm>
            <a:off x="411480" y="2103120"/>
            <a:ext cx="5394960" cy="1564531"/>
          </a:xfrm>
          <a:prstGeom prst="rect">
            <a:avLst/>
          </a:prstGeom>
          <a:noFill/>
        </p:spPr>
        <p:txBody>
          <a:bodyPr wrap="square">
            <a:spAutoFit/>
          </a:bodyPr>
          <a:lstStyle/>
          <a:p>
            <a:pPr>
              <a:defRPr sz="1000" b="0">
                <a:solidFill>
                  <a:srgbClr val="2C3E50"/>
                </a:solidFill>
                <a:latin typeface="Calibri"/>
              </a:defRPr>
            </a:pPr>
            <a:r>
              <a:rPr lang="en-US" dirty="0"/>
              <a:t>In modern software, applications are built as microservices — small, independent services that talk to each other over REST </a:t>
            </a:r>
            <a:r>
              <a:rPr lang="en-US" dirty="0" err="1"/>
              <a:t>APIs.</a:t>
            </a:r>
            <a:r>
              <a:rPr dirty="0" err="1"/>
              <a:t>A</a:t>
            </a:r>
            <a:r>
              <a:rPr dirty="0"/>
              <a:t> User Service manages user data, an Order Service manages orders, and the Order Service depends on the User Service’s API to fetch user details and enrich order responses.</a:t>
            </a:r>
          </a:p>
          <a:p>
            <a:pPr algn="l">
              <a:spcBef>
                <a:spcPts val="0"/>
              </a:spcBef>
              <a:spcAft>
                <a:spcPts val="0"/>
              </a:spcAft>
              <a:defRPr sz="400" b="0">
                <a:solidFill>
                  <a:srgbClr val="2C3E50"/>
                </a:solidFill>
                <a:latin typeface="Calibri"/>
              </a:defRPr>
            </a:pPr>
            <a:endParaRPr dirty="0"/>
          </a:p>
          <a:p>
            <a:pPr algn="l">
              <a:spcBef>
                <a:spcPts val="200"/>
              </a:spcBef>
              <a:spcAft>
                <a:spcPts val="0"/>
              </a:spcAft>
              <a:defRPr sz="1000" b="0">
                <a:solidFill>
                  <a:srgbClr val="2C3E50"/>
                </a:solidFill>
                <a:latin typeface="Calibri"/>
              </a:defRPr>
            </a:pPr>
            <a:r>
              <a:rPr dirty="0"/>
              <a:t>The fundamental problem is this: when one team changes their API (even a small rename like changing a field from "name" to "</a:t>
            </a:r>
            <a:r>
              <a:rPr dirty="0" err="1"/>
              <a:t>fullName</a:t>
            </a:r>
            <a:r>
              <a:rPr dirty="0"/>
              <a:t>"), other services that depend on that API break silently. The team making the change has no idea they’ve broken another team’s service. Their own tests pass because they updated their own code. But the consuming service still expects the old field name, and it crashes in production with no warning.</a:t>
            </a:r>
          </a:p>
        </p:txBody>
      </p:sp>
      <p:sp>
        <p:nvSpPr>
          <p:cNvPr id="8" name="Rounded Rectangle 7"/>
          <p:cNvSpPr/>
          <p:nvPr/>
        </p:nvSpPr>
        <p:spPr>
          <a:xfrm>
            <a:off x="411480" y="3657600"/>
            <a:ext cx="5394960" cy="914400"/>
          </a:xfrm>
          <a:prstGeom prst="roundRect">
            <a:avLst/>
          </a:prstGeom>
          <a:solidFill>
            <a:srgbClr val="FFFFFF"/>
          </a:solidFill>
          <a:ln w="190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3675887"/>
            <a:ext cx="5212080" cy="868680"/>
          </a:xfrm>
          <a:prstGeom prst="rect">
            <a:avLst/>
          </a:prstGeom>
          <a:noFill/>
        </p:spPr>
        <p:txBody>
          <a:bodyPr wrap="square">
            <a:spAutoFit/>
          </a:bodyPr>
          <a:lstStyle/>
          <a:p>
            <a:pPr algn="l">
              <a:defRPr sz="1000" b="1">
                <a:solidFill>
                  <a:srgbClr val="E74C3C"/>
                </a:solidFill>
                <a:latin typeface="Calibri"/>
              </a:defRPr>
            </a:pPr>
            <a:r>
              <a:rPr dirty="0"/>
              <a:t>Example Scenario That Happens in Production Without Contracts:</a:t>
            </a:r>
          </a:p>
          <a:p>
            <a:pPr algn="l">
              <a:spcBef>
                <a:spcPts val="300"/>
              </a:spcBef>
              <a:spcAft>
                <a:spcPts val="0"/>
              </a:spcAft>
              <a:defRPr sz="850" b="0">
                <a:solidFill>
                  <a:srgbClr val="2C3E50"/>
                </a:solidFill>
                <a:latin typeface="Calibri"/>
              </a:defRPr>
            </a:pPr>
            <a:r>
              <a:rPr dirty="0"/>
              <a:t>① Team A (User Service) renames the "name" field to "</a:t>
            </a:r>
            <a:r>
              <a:rPr dirty="0" err="1"/>
              <a:t>fullName</a:t>
            </a:r>
            <a:r>
              <a:rPr dirty="0"/>
              <a:t>" in their API response as part of a routine refactor.</a:t>
            </a:r>
          </a:p>
          <a:p>
            <a:pPr algn="l">
              <a:spcBef>
                <a:spcPts val="100"/>
              </a:spcBef>
              <a:spcAft>
                <a:spcPts val="0"/>
              </a:spcAft>
              <a:defRPr sz="850" b="0">
                <a:solidFill>
                  <a:srgbClr val="2C3E50"/>
                </a:solidFill>
                <a:latin typeface="Calibri"/>
              </a:defRPr>
            </a:pPr>
            <a:r>
              <a:rPr dirty="0"/>
              <a:t>② Team A updates their own tests, everything passes, and they deploy confidently to production.</a:t>
            </a:r>
          </a:p>
          <a:p>
            <a:pPr algn="l">
              <a:spcBef>
                <a:spcPts val="100"/>
              </a:spcBef>
              <a:spcAft>
                <a:spcPts val="0"/>
              </a:spcAft>
              <a:defRPr sz="850" b="1">
                <a:solidFill>
                  <a:srgbClr val="E74C3C"/>
                </a:solidFill>
                <a:latin typeface="Calibri"/>
              </a:defRPr>
            </a:pPr>
            <a:r>
              <a:rPr dirty="0"/>
              <a:t>③ Team B (Order Service) has no idea the field was renamed. Their service still expects "name" → it crashes in production. 💥</a:t>
            </a:r>
          </a:p>
        </p:txBody>
      </p:sp>
      <p:sp>
        <p:nvSpPr>
          <p:cNvPr id="10" name="TextBox 9"/>
          <p:cNvSpPr txBox="1"/>
          <p:nvPr/>
        </p:nvSpPr>
        <p:spPr>
          <a:xfrm>
            <a:off x="411480" y="4663440"/>
            <a:ext cx="5394960" cy="1920240"/>
          </a:xfrm>
          <a:prstGeom prst="rect">
            <a:avLst/>
          </a:prstGeom>
          <a:noFill/>
        </p:spPr>
        <p:txBody>
          <a:bodyPr wrap="square">
            <a:spAutoFit/>
          </a:bodyPr>
          <a:lstStyle/>
          <a:p>
            <a:pPr algn="l">
              <a:defRPr sz="1100" b="1">
                <a:solidFill>
                  <a:srgbClr val="E74C3C"/>
                </a:solidFill>
                <a:latin typeface="Calibri"/>
              </a:defRPr>
            </a:pPr>
            <a:r>
              <a:rPr dirty="0"/>
              <a:t>Why This Is a Serious Problem at Scale:</a:t>
            </a:r>
          </a:p>
          <a:p>
            <a:pPr algn="l">
              <a:spcBef>
                <a:spcPts val="0"/>
              </a:spcBef>
              <a:spcAft>
                <a:spcPts val="0"/>
              </a:spcAft>
              <a:defRPr sz="200" b="0">
                <a:solidFill>
                  <a:srgbClr val="2C3E50"/>
                </a:solidFill>
                <a:latin typeface="Calibri"/>
              </a:defRPr>
            </a:pPr>
            <a:endParaRPr dirty="0"/>
          </a:p>
          <a:p>
            <a:pPr algn="l">
              <a:spcBef>
                <a:spcPts val="300"/>
              </a:spcBef>
              <a:spcAft>
                <a:spcPts val="0"/>
              </a:spcAft>
              <a:defRPr sz="850" b="0">
                <a:solidFill>
                  <a:srgbClr val="2C3E50"/>
                </a:solidFill>
                <a:latin typeface="Calibri"/>
              </a:defRPr>
            </a:pPr>
            <a:r>
              <a:rPr sz="850" b="1" dirty="0">
                <a:solidFill>
                  <a:srgbClr val="2C3E50"/>
                </a:solidFill>
                <a:latin typeface="Calibri"/>
              </a:rPr>
              <a:t>• No Formal Agreement Between Services — </a:t>
            </a:r>
            <a:r>
              <a:rPr sz="800" b="0" dirty="0">
                <a:solidFill>
                  <a:srgbClr val="7F8C8D"/>
                </a:solidFill>
                <a:latin typeface="Calibri"/>
              </a:rPr>
              <a:t>Without a written contract defining what requests and responses look like, any team can change anything at any time. There is no mechanism to tell dependent services that something changed.</a:t>
            </a:r>
          </a:p>
          <a:p>
            <a:pPr algn="l">
              <a:spcBef>
                <a:spcPts val="0"/>
              </a:spcBef>
              <a:spcAft>
                <a:spcPts val="0"/>
              </a:spcAft>
              <a:defRPr sz="200" b="0">
                <a:solidFill>
                  <a:srgbClr val="2C3E50"/>
                </a:solidFill>
                <a:latin typeface="Calibri"/>
              </a:defRPr>
            </a:pPr>
            <a:endParaRPr sz="800" b="0" dirty="0">
              <a:solidFill>
                <a:srgbClr val="7F8C8D"/>
              </a:solidFill>
              <a:latin typeface="Calibri"/>
            </a:endParaRPr>
          </a:p>
          <a:p>
            <a:pPr algn="l">
              <a:spcBef>
                <a:spcPts val="300"/>
              </a:spcBef>
              <a:spcAft>
                <a:spcPts val="0"/>
              </a:spcAft>
              <a:defRPr sz="850" b="0">
                <a:solidFill>
                  <a:srgbClr val="2C3E50"/>
                </a:solidFill>
                <a:latin typeface="Calibri"/>
              </a:defRPr>
            </a:pPr>
            <a:r>
              <a:rPr sz="850" b="1" dirty="0">
                <a:solidFill>
                  <a:srgbClr val="2C3E50"/>
                </a:solidFill>
                <a:latin typeface="Calibri"/>
              </a:rPr>
              <a:t>• Integration Tests Are Expensive and Often Skipped — </a:t>
            </a:r>
            <a:r>
              <a:rPr sz="800" b="0" dirty="0">
                <a:solidFill>
                  <a:srgbClr val="7F8C8D"/>
                </a:solidFill>
                <a:latin typeface="Calibri"/>
              </a:rPr>
              <a:t>Full integration tests require all services running simultaneously. They’re slow, fragile, and most teams skip them in their CI pipelines because of the setup complexity and the time they take.</a:t>
            </a:r>
          </a:p>
          <a:p>
            <a:pPr algn="l">
              <a:spcBef>
                <a:spcPts val="0"/>
              </a:spcBef>
              <a:spcAft>
                <a:spcPts val="0"/>
              </a:spcAft>
              <a:defRPr sz="200" b="0">
                <a:solidFill>
                  <a:srgbClr val="2C3E50"/>
                </a:solidFill>
                <a:latin typeface="Calibri"/>
              </a:defRPr>
            </a:pPr>
            <a:endParaRPr sz="800" b="0" dirty="0">
              <a:solidFill>
                <a:srgbClr val="7F8C8D"/>
              </a:solidFill>
              <a:latin typeface="Calibri"/>
            </a:endParaRPr>
          </a:p>
          <a:p>
            <a:pPr algn="l">
              <a:spcBef>
                <a:spcPts val="300"/>
              </a:spcBef>
              <a:spcAft>
                <a:spcPts val="0"/>
              </a:spcAft>
              <a:defRPr sz="850" b="0">
                <a:solidFill>
                  <a:srgbClr val="2C3E50"/>
                </a:solidFill>
                <a:latin typeface="Calibri"/>
              </a:defRPr>
            </a:pPr>
            <a:r>
              <a:rPr sz="850" b="1" dirty="0">
                <a:solidFill>
                  <a:srgbClr val="2C3E50"/>
                </a:solidFill>
                <a:latin typeface="Calibri"/>
              </a:rPr>
              <a:t>• Breaking Changes Are Invisible to Consumers — </a:t>
            </a:r>
            <a:r>
              <a:rPr sz="800" b="0" dirty="0">
                <a:solidFill>
                  <a:srgbClr val="7F8C8D"/>
                </a:solidFill>
                <a:latin typeface="Calibri"/>
              </a:rPr>
              <a:t>There is no notification system when an API changes its response format. The consuming team only discovers the problem when their service fails in production and real users are affected.</a:t>
            </a:r>
          </a:p>
          <a:p>
            <a:pPr algn="l">
              <a:spcBef>
                <a:spcPts val="0"/>
              </a:spcBef>
              <a:spcAft>
                <a:spcPts val="0"/>
              </a:spcAft>
              <a:defRPr sz="200" b="0">
                <a:solidFill>
                  <a:srgbClr val="2C3E50"/>
                </a:solidFill>
                <a:latin typeface="Calibri"/>
              </a:defRPr>
            </a:pPr>
            <a:endParaRPr sz="800" b="0" dirty="0">
              <a:solidFill>
                <a:srgbClr val="7F8C8D"/>
              </a:solidFill>
              <a:latin typeface="Calibri"/>
            </a:endParaRPr>
          </a:p>
          <a:p>
            <a:pPr algn="l">
              <a:spcBef>
                <a:spcPts val="300"/>
              </a:spcBef>
              <a:spcAft>
                <a:spcPts val="0"/>
              </a:spcAft>
              <a:defRPr sz="850" b="0">
                <a:solidFill>
                  <a:srgbClr val="2C3E50"/>
                </a:solidFill>
                <a:latin typeface="Calibri"/>
              </a:defRPr>
            </a:pPr>
            <a:r>
              <a:rPr sz="850" b="1" dirty="0">
                <a:solidFill>
                  <a:srgbClr val="2C3E50"/>
                </a:solidFill>
                <a:latin typeface="Calibri"/>
              </a:rPr>
              <a:t>• Manual Testing Doesn’t Scale — </a:t>
            </a:r>
            <a:r>
              <a:rPr sz="800" b="0" dirty="0">
                <a:solidFill>
                  <a:srgbClr val="7F8C8D"/>
                </a:solidFill>
                <a:latin typeface="Calibri"/>
              </a:rPr>
              <a:t>With 10+ microservices, each with dozens of endpoints, manually verifying every API interaction after every change is impossible. Teams need an automated, build-time solution that catches issues instantly.</a:t>
            </a:r>
          </a:p>
        </p:txBody>
      </p:sp>
      <p:sp>
        <p:nvSpPr>
          <p:cNvPr id="11" name="Rounded Rectangle 10"/>
          <p:cNvSpPr/>
          <p:nvPr/>
        </p:nvSpPr>
        <p:spPr>
          <a:xfrm>
            <a:off x="6217920" y="1645920"/>
            <a:ext cx="5715000" cy="5029200"/>
          </a:xfrm>
          <a:prstGeom prst="roundRect">
            <a:avLst>
              <a:gd name="adj" fmla="val 5051"/>
            </a:avLst>
          </a:prstGeom>
          <a:solidFill>
            <a:srgbClr val="EAFAE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691640"/>
            <a:ext cx="5349240" cy="400110"/>
          </a:xfrm>
          <a:prstGeom prst="rect">
            <a:avLst/>
          </a:prstGeom>
          <a:noFill/>
        </p:spPr>
        <p:txBody>
          <a:bodyPr wrap="square">
            <a:spAutoFit/>
          </a:bodyPr>
          <a:lstStyle/>
          <a:p>
            <a:pPr algn="l">
              <a:defRPr sz="2000" b="1">
                <a:solidFill>
                  <a:srgbClr val="2ECC71"/>
                </a:solidFill>
                <a:latin typeface="Calibri"/>
              </a:defRPr>
            </a:pPr>
            <a:r>
              <a:rPr dirty="0"/>
              <a:t>THE SOLUTION — What Was Built to Solve This</a:t>
            </a:r>
          </a:p>
        </p:txBody>
      </p:sp>
      <p:sp>
        <p:nvSpPr>
          <p:cNvPr id="13" name="TextBox 12"/>
          <p:cNvSpPr txBox="1"/>
          <p:nvPr/>
        </p:nvSpPr>
        <p:spPr>
          <a:xfrm>
            <a:off x="6400800" y="2103120"/>
            <a:ext cx="5349240" cy="2103120"/>
          </a:xfrm>
          <a:prstGeom prst="rect">
            <a:avLst/>
          </a:prstGeom>
          <a:noFill/>
        </p:spPr>
        <p:txBody>
          <a:bodyPr wrap="square">
            <a:spAutoFit/>
          </a:bodyPr>
          <a:lstStyle/>
          <a:p>
            <a:pPr algn="l">
              <a:defRPr sz="1000" b="0">
                <a:solidFill>
                  <a:srgbClr val="2C3E50"/>
                </a:solidFill>
                <a:latin typeface="Calibri"/>
              </a:defRPr>
            </a:pPr>
            <a:r>
              <a:t>This project implements automated contract testing for REST APIs using Spring Cloud Contract. A "contract" is a YAML file that acts as a formal, machine-readable agreement between an API Provider and its Consumer. It specifies exactly what request the consumer will send and exactly what response the provider must return.</a:t>
            </a:r>
          </a:p>
          <a:p>
            <a:pPr algn="l">
              <a:spcBef>
                <a:spcPts val="0"/>
              </a:spcBef>
              <a:spcAft>
                <a:spcPts val="0"/>
              </a:spcAft>
              <a:defRPr sz="300" b="0">
                <a:solidFill>
                  <a:srgbClr val="2C3E50"/>
                </a:solidFill>
                <a:latin typeface="Calibri"/>
              </a:defRPr>
            </a:pPr>
            <a:endParaRPr/>
          </a:p>
          <a:p>
            <a:pPr algn="l">
              <a:spcBef>
                <a:spcPts val="200"/>
              </a:spcBef>
              <a:spcAft>
                <a:spcPts val="0"/>
              </a:spcAft>
              <a:defRPr sz="1000" b="0">
                <a:solidFill>
                  <a:srgbClr val="2C3E50"/>
                </a:solidFill>
                <a:latin typeface="Calibri"/>
              </a:defRPr>
            </a:pPr>
            <a:r>
              <a:t>Spring Cloud Contract takes these YAML contracts and does two critical things automatically:</a:t>
            </a:r>
          </a:p>
          <a:p>
            <a:pPr algn="l">
              <a:spcBef>
                <a:spcPts val="0"/>
              </a:spcBef>
              <a:spcAft>
                <a:spcPts val="0"/>
              </a:spcAft>
              <a:defRPr sz="200" b="0">
                <a:solidFill>
                  <a:srgbClr val="2C3E50"/>
                </a:solidFill>
                <a:latin typeface="Calibri"/>
              </a:defRPr>
            </a:pPr>
            <a:endParaRPr/>
          </a:p>
          <a:p>
            <a:pPr algn="l">
              <a:spcBef>
                <a:spcPts val="300"/>
              </a:spcBef>
              <a:spcAft>
                <a:spcPts val="0"/>
              </a:spcAft>
              <a:defRPr sz="900" b="0">
                <a:solidFill>
                  <a:srgbClr val="2C3E50"/>
                </a:solidFill>
                <a:latin typeface="Calibri"/>
              </a:defRPr>
            </a:pPr>
            <a:r>
              <a:t>①  On the Provider side, it auto-generates JUnit tests from the contract YAML files and runs them against the real API during every build. If the Provider’s actual response doesn’t match what the contract specifies, the build fails immediately and deployment is blocked. The Provider team knows instantly that their change would break a consumer.</a:t>
            </a:r>
          </a:p>
          <a:p>
            <a:pPr algn="l">
              <a:spcBef>
                <a:spcPts val="0"/>
              </a:spcBef>
              <a:spcAft>
                <a:spcPts val="0"/>
              </a:spcAft>
              <a:defRPr sz="200" b="0">
                <a:solidFill>
                  <a:srgbClr val="2C3E50"/>
                </a:solidFill>
                <a:latin typeface="Calibri"/>
              </a:defRPr>
            </a:pPr>
            <a:endParaRPr/>
          </a:p>
          <a:p>
            <a:pPr algn="l">
              <a:spcBef>
                <a:spcPts val="300"/>
              </a:spcBef>
              <a:spcAft>
                <a:spcPts val="0"/>
              </a:spcAft>
              <a:defRPr sz="900" b="0">
                <a:solidFill>
                  <a:srgbClr val="2C3E50"/>
                </a:solidFill>
                <a:latin typeface="Calibri"/>
              </a:defRPr>
            </a:pPr>
            <a:r>
              <a:t>②  On the Consumer side, it generates WireMock stubs from the same contracts. The Consumer can test its API client against these stubs without needing the real Provider running. Both sides test independently but are always in sync because they share the same contract definition as the single source of truth.</a:t>
            </a:r>
          </a:p>
          <a:p>
            <a:pPr algn="l">
              <a:spcBef>
                <a:spcPts val="0"/>
              </a:spcBef>
              <a:spcAft>
                <a:spcPts val="0"/>
              </a:spcAft>
              <a:defRPr sz="200" b="0">
                <a:solidFill>
                  <a:srgbClr val="2C3E50"/>
                </a:solidFill>
                <a:latin typeface="Calibri"/>
              </a:defRPr>
            </a:pPr>
            <a:endParaRPr/>
          </a:p>
          <a:p>
            <a:pPr algn="l">
              <a:spcBef>
                <a:spcPts val="300"/>
              </a:spcBef>
              <a:spcAft>
                <a:spcPts val="0"/>
              </a:spcAft>
              <a:defRPr sz="900" b="0">
                <a:solidFill>
                  <a:srgbClr val="2C3E50"/>
                </a:solidFill>
                <a:latin typeface="Calibri"/>
              </a:defRPr>
            </a:pPr>
            <a:r>
              <a:t>③  An AI Agent (built in Python) automates the tedious parts: it reads the Provider’s OpenAPI specification, auto-generates contract YAML files for every endpoint, detects when the API has drifted from its contracts, produces health reports with actionable remediation steps, and generates the complete CI/CD pipeline configuration.</a:t>
            </a:r>
          </a:p>
        </p:txBody>
      </p:sp>
      <p:sp>
        <p:nvSpPr>
          <p:cNvPr id="14" name="Rounded Rectangle 13"/>
          <p:cNvSpPr/>
          <p:nvPr/>
        </p:nvSpPr>
        <p:spPr>
          <a:xfrm>
            <a:off x="6400800" y="5074920"/>
            <a:ext cx="5349240" cy="1554480"/>
          </a:xfrm>
          <a:prstGeom prst="roundRect">
            <a:avLst/>
          </a:prstGeom>
          <a:solidFill>
            <a:srgbClr val="FFFFFF"/>
          </a:solidFill>
          <a:ln w="19050">
            <a:solidFill>
              <a:srgbClr val="D5F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60" y="5093208"/>
            <a:ext cx="5074920" cy="1508760"/>
          </a:xfrm>
          <a:prstGeom prst="rect">
            <a:avLst/>
          </a:prstGeom>
          <a:noFill/>
        </p:spPr>
        <p:txBody>
          <a:bodyPr wrap="square">
            <a:spAutoFit/>
          </a:bodyPr>
          <a:lstStyle/>
          <a:p>
            <a:pPr algn="l">
              <a:defRPr sz="1100" b="1">
                <a:solidFill>
                  <a:srgbClr val="1E3A5F"/>
                </a:solidFill>
                <a:latin typeface="Calibri"/>
              </a:defRPr>
            </a:pPr>
            <a:r>
              <a:t>What Was Built — 5 Key Deliverables:</a:t>
            </a:r>
          </a:p>
          <a:p>
            <a:pPr algn="l">
              <a:spcBef>
                <a:spcPts val="200"/>
              </a:spcBef>
              <a:spcAft>
                <a:spcPts val="0"/>
              </a:spcAft>
              <a:defRPr sz="800" b="0">
                <a:solidFill>
                  <a:srgbClr val="2C3E50"/>
                </a:solidFill>
                <a:latin typeface="Calibri"/>
              </a:defRPr>
            </a:pPr>
            <a:r>
              <a:rPr sz="800" b="1">
                <a:solidFill>
                  <a:srgbClr val="2C3E50"/>
                </a:solidFill>
                <a:latin typeface="Calibri"/>
              </a:rPr>
              <a:t>📦 Provider API (User Service)  —  </a:t>
            </a:r>
            <a:r>
              <a:rPr sz="750" b="0">
                <a:solidFill>
                  <a:srgbClr val="7F8C8D"/>
                </a:solidFill>
                <a:latin typeface="Calibri"/>
              </a:rPr>
              <a:t>A complete User Management REST API with 5 CRUD endpoints, input validation, error handling, and auto-generated OpenAPI documentation. Runs on port 8080.</a:t>
            </a:r>
          </a:p>
          <a:p>
            <a:pPr algn="l">
              <a:spcBef>
                <a:spcPts val="200"/>
              </a:spcBef>
              <a:spcAft>
                <a:spcPts val="0"/>
              </a:spcAft>
              <a:defRPr sz="800" b="0">
                <a:solidFill>
                  <a:srgbClr val="2C3E50"/>
                </a:solidFill>
                <a:latin typeface="Calibri"/>
              </a:defRPr>
            </a:pPr>
            <a:r>
              <a:rPr sz="800" b="1">
                <a:solidFill>
                  <a:srgbClr val="2C3E50"/>
                </a:solidFill>
                <a:latin typeface="Calibri"/>
              </a:rPr>
              <a:t>🛒 Consumer API (Order Service)  —  </a:t>
            </a:r>
            <a:r>
              <a:rPr sz="750" b="0">
                <a:solidFill>
                  <a:srgbClr val="7F8C8D"/>
                </a:solidFill>
                <a:latin typeface="Calibri"/>
              </a:rPr>
              <a:t>An Order Management API that calls the Provider to enrich orders with user data. Demonstrates real inter-service dependency. Runs on port 8081.</a:t>
            </a:r>
          </a:p>
          <a:p>
            <a:pPr algn="l">
              <a:spcBef>
                <a:spcPts val="200"/>
              </a:spcBef>
              <a:spcAft>
                <a:spcPts val="0"/>
              </a:spcAft>
              <a:defRPr sz="800" b="0">
                <a:solidFill>
                  <a:srgbClr val="2C3E50"/>
                </a:solidFill>
                <a:latin typeface="Calibri"/>
              </a:defRPr>
            </a:pPr>
            <a:r>
              <a:rPr sz="800" b="1">
                <a:solidFill>
                  <a:srgbClr val="2C3E50"/>
                </a:solidFill>
                <a:latin typeface="Calibri"/>
              </a:rPr>
              <a:t>📋 5 Contract YAML Files  —  </a:t>
            </a:r>
            <a:r>
              <a:rPr sz="750" b="0">
                <a:solidFill>
                  <a:srgbClr val="7F8C8D"/>
                </a:solidFill>
                <a:latin typeface="Calibri"/>
              </a:rPr>
              <a:t>3 hand-written + 2 AI-generated contracts covering 100% of the Provider’s API endpoints. Each contract defines the expected request and response.</a:t>
            </a:r>
          </a:p>
          <a:p>
            <a:pPr algn="l">
              <a:spcBef>
                <a:spcPts val="200"/>
              </a:spcBef>
              <a:spcAft>
                <a:spcPts val="0"/>
              </a:spcAft>
              <a:defRPr sz="800" b="0">
                <a:solidFill>
                  <a:srgbClr val="2C3E50"/>
                </a:solidFill>
                <a:latin typeface="Calibri"/>
              </a:defRPr>
            </a:pPr>
            <a:r>
              <a:rPr sz="800" b="1">
                <a:solidFill>
                  <a:srgbClr val="2C3E50"/>
                </a:solidFill>
                <a:latin typeface="Calibri"/>
              </a:rPr>
              <a:t>🤖 AI Agent (Python)  —  </a:t>
            </a:r>
            <a:r>
              <a:rPr sz="750" b="0">
                <a:solidFill>
                  <a:srgbClr val="7F8C8D"/>
                </a:solidFill>
                <a:latin typeface="Calibri"/>
              </a:rPr>
              <a:t>A 5-tool CLI agent that reads the OpenAPI spec and automates contract generation, drift detection, health reporting, validation, and CI/CD config generation.</a:t>
            </a:r>
          </a:p>
          <a:p>
            <a:pPr algn="l">
              <a:spcBef>
                <a:spcPts val="200"/>
              </a:spcBef>
              <a:spcAft>
                <a:spcPts val="0"/>
              </a:spcAft>
              <a:defRPr sz="800" b="0">
                <a:solidFill>
                  <a:srgbClr val="2C3E50"/>
                </a:solidFill>
                <a:latin typeface="Calibri"/>
              </a:defRPr>
            </a:pPr>
            <a:r>
              <a:rPr sz="800" b="1">
                <a:solidFill>
                  <a:srgbClr val="2C3E50"/>
                </a:solidFill>
                <a:latin typeface="Calibri"/>
              </a:rPr>
              <a:t>🔄 GitLab CI/CD Pipeline  —  </a:t>
            </a:r>
            <a:r>
              <a:rPr sz="750" b="0">
                <a:solidFill>
                  <a:srgbClr val="7F8C8D"/>
                </a:solidFill>
                <a:latin typeface="Calibri"/>
              </a:rPr>
              <a:t>An AI-generated 7-job, 4-stage pipeline that automatically builds, tests, reports, and gates deployment based on contract test results.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411480"/>
          </a:xfrm>
          <a:prstGeom prst="rect">
            <a:avLst/>
          </a:prstGeom>
          <a:noFill/>
        </p:spPr>
        <p:txBody>
          <a:bodyPr wrap="square">
            <a:spAutoFit/>
          </a:bodyPr>
          <a:lstStyle/>
          <a:p>
            <a:pPr algn="l">
              <a:defRPr sz="2800" b="1">
                <a:solidFill>
                  <a:srgbClr val="FFFFFF"/>
                </a:solidFill>
                <a:latin typeface="Calibri"/>
              </a:defRPr>
            </a:pPr>
            <a:r>
              <a:t>How It All Works Together — End-to-End Flow</a:t>
            </a:r>
          </a:p>
        </p:txBody>
      </p:sp>
      <p:sp>
        <p:nvSpPr>
          <p:cNvPr id="4" name="TextBox 3"/>
          <p:cNvSpPr txBox="1"/>
          <p:nvPr/>
        </p:nvSpPr>
        <p:spPr>
          <a:xfrm>
            <a:off x="457200" y="502920"/>
            <a:ext cx="11430000" cy="365760"/>
          </a:xfrm>
          <a:prstGeom prst="rect">
            <a:avLst/>
          </a:prstGeom>
          <a:noFill/>
        </p:spPr>
        <p:txBody>
          <a:bodyPr wrap="square">
            <a:spAutoFit/>
          </a:bodyPr>
          <a:lstStyle/>
          <a:p>
            <a:pPr algn="l">
              <a:defRPr sz="1100" b="0">
                <a:solidFill>
                  <a:srgbClr val="BDCFE4"/>
                </a:solidFill>
                <a:latin typeface="Calibri"/>
              </a:defRPr>
            </a:pPr>
            <a:r>
              <a:t>Contract Testing Verification  •  AI-Powered Automation  •  CI/CD Pipeline with Deployment Gating  •  Breaking Change Detection</a:t>
            </a:r>
          </a:p>
        </p:txBody>
      </p:sp>
      <p:sp>
        <p:nvSpPr>
          <p:cNvPr id="5" name="Rounded Rectangle 4"/>
          <p:cNvSpPr/>
          <p:nvPr/>
        </p:nvSpPr>
        <p:spPr>
          <a:xfrm>
            <a:off x="228600" y="1097280"/>
            <a:ext cx="5806440" cy="2697480"/>
          </a:xfrm>
          <a:prstGeom prst="roundRect">
            <a:avLst/>
          </a:prstGeom>
          <a:solidFill>
            <a:srgbClr val="EBF5FB"/>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143000"/>
            <a:ext cx="5486400" cy="274320"/>
          </a:xfrm>
          <a:prstGeom prst="rect">
            <a:avLst/>
          </a:prstGeom>
          <a:noFill/>
        </p:spPr>
        <p:txBody>
          <a:bodyPr wrap="square">
            <a:spAutoFit/>
          </a:bodyPr>
          <a:lstStyle/>
          <a:p>
            <a:pPr algn="l">
              <a:defRPr sz="1500" b="1">
                <a:solidFill>
                  <a:srgbClr val="1E3A5F"/>
                </a:solidFill>
                <a:latin typeface="Calibri"/>
              </a:defRPr>
            </a:pPr>
            <a:r>
              <a:rPr dirty="0"/>
              <a:t>①  Provider-Side Contract Verification</a:t>
            </a:r>
          </a:p>
        </p:txBody>
      </p:sp>
      <p:sp>
        <p:nvSpPr>
          <p:cNvPr id="7" name="TextBox 6"/>
          <p:cNvSpPr txBox="1"/>
          <p:nvPr/>
        </p:nvSpPr>
        <p:spPr>
          <a:xfrm>
            <a:off x="365760" y="1463040"/>
            <a:ext cx="5486400" cy="2240280"/>
          </a:xfrm>
          <a:prstGeom prst="rect">
            <a:avLst/>
          </a:prstGeom>
          <a:noFill/>
        </p:spPr>
        <p:txBody>
          <a:bodyPr wrap="square">
            <a:spAutoFit/>
          </a:bodyPr>
          <a:lstStyle/>
          <a:p>
            <a:pPr algn="l">
              <a:defRPr sz="950" b="0">
                <a:solidFill>
                  <a:srgbClr val="2C3E50"/>
                </a:solidFill>
                <a:latin typeface="Calibri"/>
              </a:defRPr>
            </a:pPr>
            <a:r>
              <a:rPr dirty="0"/>
              <a:t>When the Provider (User Service) is built, Spring Cloud Contract’s Verifier plugin automatically reads all 5 contract YAML files from the test resources directory. For each contract, it generates a JUnit test method that sends the exact request specified in the contract and asserts that the Provider’s actual response matches the expected response.</a:t>
            </a:r>
          </a:p>
          <a:p>
            <a:pPr algn="l">
              <a:spcBef>
                <a:spcPts val="0"/>
              </a:spcBef>
              <a:spcAft>
                <a:spcPts val="0"/>
              </a:spcAft>
              <a:defRPr sz="200" b="0">
                <a:solidFill>
                  <a:srgbClr val="2C3E50"/>
                </a:solidFill>
                <a:latin typeface="Calibri"/>
              </a:defRPr>
            </a:pPr>
            <a:endParaRPr dirty="0"/>
          </a:p>
          <a:p>
            <a:pPr algn="l">
              <a:spcBef>
                <a:spcPts val="300"/>
              </a:spcBef>
              <a:spcAft>
                <a:spcPts val="0"/>
              </a:spcAft>
              <a:defRPr sz="950" b="0">
                <a:solidFill>
                  <a:srgbClr val="2C3E50"/>
                </a:solidFill>
                <a:latin typeface="Calibri"/>
              </a:defRPr>
            </a:pPr>
            <a:r>
              <a:rPr dirty="0"/>
              <a:t>This happens automatically during every Maven build — no developer action required. The contracts use regex-based matchers for dynamic values (like auto-generated IDs and email formats), making tests flexible enough to handle real data while still enforcing the correct response structure.</a:t>
            </a:r>
          </a:p>
          <a:p>
            <a:pPr algn="l">
              <a:spcBef>
                <a:spcPts val="0"/>
              </a:spcBef>
              <a:spcAft>
                <a:spcPts val="0"/>
              </a:spcAft>
              <a:defRPr sz="200" b="0">
                <a:solidFill>
                  <a:srgbClr val="2C3E50"/>
                </a:solidFill>
                <a:latin typeface="Calibri"/>
              </a:defRPr>
            </a:pPr>
            <a:endParaRPr dirty="0"/>
          </a:p>
          <a:p>
            <a:pPr algn="l">
              <a:spcBef>
                <a:spcPts val="300"/>
              </a:spcBef>
              <a:spcAft>
                <a:spcPts val="0"/>
              </a:spcAft>
              <a:defRPr sz="950" b="0">
                <a:solidFill>
                  <a:srgbClr val="2C3E50"/>
                </a:solidFill>
                <a:latin typeface="Calibri"/>
              </a:defRPr>
            </a:pPr>
            <a:r>
              <a:rPr dirty="0"/>
              <a:t>If all 5 contracts pass verification, the build generates a Stubs JAR — a packaged set of </a:t>
            </a:r>
            <a:r>
              <a:rPr dirty="0" err="1"/>
              <a:t>WireMock</a:t>
            </a:r>
            <a:r>
              <a:rPr dirty="0"/>
              <a:t> mappings that represent the Provider’s guaranteed behavior. This JAR is published to the local Maven repository and used by the Consumer for testing. If even one contract fails (meaning the API doesn’t match the agreed contract), the entire build fails and deployment is blocked.</a:t>
            </a:r>
          </a:p>
          <a:p>
            <a:pPr algn="l">
              <a:spcBef>
                <a:spcPts val="0"/>
              </a:spcBef>
              <a:spcAft>
                <a:spcPts val="0"/>
              </a:spcAft>
              <a:defRPr sz="200" b="0">
                <a:solidFill>
                  <a:srgbClr val="2C3E50"/>
                </a:solidFill>
                <a:latin typeface="Calibri"/>
              </a:defRPr>
            </a:pPr>
            <a:endParaRPr dirty="0"/>
          </a:p>
          <a:p>
            <a:pPr algn="l">
              <a:spcBef>
                <a:spcPts val="300"/>
              </a:spcBef>
              <a:spcAft>
                <a:spcPts val="0"/>
              </a:spcAft>
              <a:defRPr sz="950" b="0">
                <a:solidFill>
                  <a:srgbClr val="2C3E50"/>
                </a:solidFill>
                <a:latin typeface="Calibri"/>
              </a:defRPr>
            </a:pPr>
            <a:r>
              <a:rPr dirty="0"/>
              <a:t>A test isolation mechanism ensures reliability: before each contract test, the Provider’s in-memory data store resets to a known state (3 sample users), so tests can run in any order and always produce the same result.</a:t>
            </a:r>
          </a:p>
        </p:txBody>
      </p:sp>
      <p:sp>
        <p:nvSpPr>
          <p:cNvPr id="8" name="Rounded Rectangle 7"/>
          <p:cNvSpPr/>
          <p:nvPr/>
        </p:nvSpPr>
        <p:spPr>
          <a:xfrm>
            <a:off x="6217920" y="1097280"/>
            <a:ext cx="5715000" cy="2697480"/>
          </a:xfrm>
          <a:prstGeom prst="roundRect">
            <a:avLst/>
          </a:prstGeom>
          <a:solidFill>
            <a:srgbClr val="EAFAE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143000"/>
            <a:ext cx="5394960" cy="274320"/>
          </a:xfrm>
          <a:prstGeom prst="rect">
            <a:avLst/>
          </a:prstGeom>
          <a:noFill/>
        </p:spPr>
        <p:txBody>
          <a:bodyPr wrap="square">
            <a:spAutoFit/>
          </a:bodyPr>
          <a:lstStyle/>
          <a:p>
            <a:pPr algn="l">
              <a:defRPr sz="1500" b="1">
                <a:solidFill>
                  <a:srgbClr val="2ECC71"/>
                </a:solidFill>
                <a:latin typeface="Calibri"/>
              </a:defRPr>
            </a:pPr>
            <a:r>
              <a:rPr dirty="0"/>
              <a:t>②  Consumer-Side Stub Testing</a:t>
            </a:r>
          </a:p>
        </p:txBody>
      </p:sp>
      <p:sp>
        <p:nvSpPr>
          <p:cNvPr id="10" name="TextBox 9"/>
          <p:cNvSpPr txBox="1"/>
          <p:nvPr/>
        </p:nvSpPr>
        <p:spPr>
          <a:xfrm>
            <a:off x="6355080" y="1463040"/>
            <a:ext cx="5394960" cy="2240280"/>
          </a:xfrm>
          <a:prstGeom prst="rect">
            <a:avLst/>
          </a:prstGeom>
          <a:noFill/>
        </p:spPr>
        <p:txBody>
          <a:bodyPr wrap="square">
            <a:spAutoFit/>
          </a:bodyPr>
          <a:lstStyle/>
          <a:p>
            <a:pPr algn="l">
              <a:defRPr sz="950" b="0">
                <a:solidFill>
                  <a:srgbClr val="2C3E50"/>
                </a:solidFill>
                <a:latin typeface="Calibri"/>
              </a:defRPr>
            </a:pPr>
            <a:r>
              <a:rPr dirty="0"/>
              <a:t>The Consumer (Order Service) needs to verify that its HTTP client correctly calls the Provider and parses the response. But running the real Provider during Consumer tests creates tight coupling and makes tests slow and unreliable.</a:t>
            </a:r>
          </a:p>
          <a:p>
            <a:pPr algn="l">
              <a:spcBef>
                <a:spcPts val="0"/>
              </a:spcBef>
              <a:spcAft>
                <a:spcPts val="0"/>
              </a:spcAft>
              <a:defRPr sz="200" b="0">
                <a:solidFill>
                  <a:srgbClr val="2C3E50"/>
                </a:solidFill>
                <a:latin typeface="Calibri"/>
              </a:defRPr>
            </a:pPr>
            <a:endParaRPr dirty="0"/>
          </a:p>
          <a:p>
            <a:pPr algn="l">
              <a:spcBef>
                <a:spcPts val="300"/>
              </a:spcBef>
              <a:spcAft>
                <a:spcPts val="0"/>
              </a:spcAft>
              <a:defRPr sz="950" b="0">
                <a:solidFill>
                  <a:srgbClr val="2C3E50"/>
                </a:solidFill>
                <a:latin typeface="Calibri"/>
              </a:defRPr>
            </a:pPr>
            <a:r>
              <a:rPr dirty="0"/>
              <a:t>Spring Cloud Contract’s Stub Runner solves this elegantly: during Consumer tests, it automatically finds the Provider’s Stubs JAR in the local Maven repository, starts a </a:t>
            </a:r>
            <a:r>
              <a:rPr dirty="0" err="1"/>
              <a:t>WireMock</a:t>
            </a:r>
            <a:r>
              <a:rPr dirty="0"/>
              <a:t> mock server on the configured port, and loads the Provider’s contract-based stubs into it. The Consumer’s HTTP client calls </a:t>
            </a:r>
            <a:r>
              <a:rPr dirty="0" err="1"/>
              <a:t>WireMock</a:t>
            </a:r>
            <a:r>
              <a:rPr dirty="0"/>
              <a:t> instead of the real Provider — and </a:t>
            </a:r>
            <a:r>
              <a:rPr dirty="0" err="1"/>
              <a:t>WireMock</a:t>
            </a:r>
            <a:r>
              <a:rPr dirty="0"/>
              <a:t> responds with exactly the data defined in the contracts.</a:t>
            </a:r>
          </a:p>
          <a:p>
            <a:pPr algn="l">
              <a:spcBef>
                <a:spcPts val="0"/>
              </a:spcBef>
              <a:spcAft>
                <a:spcPts val="0"/>
              </a:spcAft>
              <a:defRPr sz="200" b="0">
                <a:solidFill>
                  <a:srgbClr val="2C3E50"/>
                </a:solidFill>
                <a:latin typeface="Calibri"/>
              </a:defRPr>
            </a:pPr>
            <a:endParaRPr dirty="0"/>
          </a:p>
          <a:p>
            <a:pPr algn="l">
              <a:spcBef>
                <a:spcPts val="300"/>
              </a:spcBef>
              <a:spcAft>
                <a:spcPts val="0"/>
              </a:spcAft>
              <a:defRPr sz="950" b="0">
                <a:solidFill>
                  <a:srgbClr val="2C3E50"/>
                </a:solidFill>
                <a:latin typeface="Calibri"/>
              </a:defRPr>
            </a:pPr>
            <a:r>
              <a:rPr dirty="0"/>
              <a:t>This means the Consumer can test completely independently, without the Provider running, while still being guaranteed that the responses it tests against match the real Provider’s behavior. Both sides use the same contract YAML as the source of truth, ensuring they are always synchronized. If the Provider changes its API and updates the contracts, the Consumer’s tests will also reflect the change through the updated stubs.</a:t>
            </a:r>
          </a:p>
          <a:p>
            <a:pPr algn="l">
              <a:spcBef>
                <a:spcPts val="0"/>
              </a:spcBef>
              <a:spcAft>
                <a:spcPts val="0"/>
              </a:spcAft>
              <a:defRPr sz="200" b="0">
                <a:solidFill>
                  <a:srgbClr val="2C3E50"/>
                </a:solidFill>
                <a:latin typeface="Calibri"/>
              </a:defRPr>
            </a:pPr>
            <a:endParaRPr dirty="0"/>
          </a:p>
          <a:p>
            <a:pPr algn="l">
              <a:spcBef>
                <a:spcPts val="300"/>
              </a:spcBef>
              <a:spcAft>
                <a:spcPts val="0"/>
              </a:spcAft>
              <a:defRPr sz="950" b="1">
                <a:solidFill>
                  <a:srgbClr val="2C3E50"/>
                </a:solidFill>
                <a:latin typeface="Calibri"/>
              </a:defRPr>
            </a:pPr>
            <a:r>
              <a:rPr dirty="0"/>
              <a:t>The key insight is that contract testing replaces expensive full-stack integration tests with fast, independent unit-level tests that still give the same confidence about cross-service compatibility.</a:t>
            </a:r>
          </a:p>
        </p:txBody>
      </p:sp>
      <p:sp>
        <p:nvSpPr>
          <p:cNvPr id="11" name="Rounded Rectangle 10"/>
          <p:cNvSpPr/>
          <p:nvPr/>
        </p:nvSpPr>
        <p:spPr>
          <a:xfrm>
            <a:off x="228600" y="3931920"/>
            <a:ext cx="5806440" cy="2788920"/>
          </a:xfrm>
          <a:prstGeom prst="roundRect">
            <a:avLst/>
          </a:prstGeom>
          <a:solidFill>
            <a:srgbClr val="F5EEF8"/>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3959352"/>
            <a:ext cx="5486400" cy="274320"/>
          </a:xfrm>
          <a:prstGeom prst="rect">
            <a:avLst/>
          </a:prstGeom>
          <a:noFill/>
        </p:spPr>
        <p:txBody>
          <a:bodyPr wrap="square">
            <a:spAutoFit/>
          </a:bodyPr>
          <a:lstStyle/>
          <a:p>
            <a:pPr algn="l">
              <a:defRPr sz="1500" b="1">
                <a:solidFill>
                  <a:srgbClr val="9B59B6"/>
                </a:solidFill>
                <a:latin typeface="Calibri"/>
              </a:defRPr>
            </a:pPr>
            <a:r>
              <a:rPr dirty="0"/>
              <a:t>③  AI Agent — Automating the Hard Parts</a:t>
            </a:r>
          </a:p>
        </p:txBody>
      </p:sp>
      <p:sp>
        <p:nvSpPr>
          <p:cNvPr id="13" name="TextBox 12"/>
          <p:cNvSpPr txBox="1"/>
          <p:nvPr/>
        </p:nvSpPr>
        <p:spPr>
          <a:xfrm>
            <a:off x="384387" y="3959352"/>
            <a:ext cx="5486400" cy="2377440"/>
          </a:xfrm>
          <a:prstGeom prst="rect">
            <a:avLst/>
          </a:prstGeom>
          <a:noFill/>
        </p:spPr>
        <p:txBody>
          <a:bodyPr wrap="square">
            <a:spAutoFit/>
          </a:bodyPr>
          <a:lstStyle/>
          <a:p>
            <a:pPr algn="l">
              <a:defRPr sz="950" b="0">
                <a:solidFill>
                  <a:srgbClr val="2C3E50"/>
                </a:solidFill>
                <a:latin typeface="Calibri"/>
              </a:defRPr>
            </a:pPr>
            <a:r>
              <a:rPr dirty="0"/>
              <a:t>Writing contract YAML files manually is manageable for 3–5 endpoints. But real-world APIs have 50+ endpoints that change every sprint. The AI Agent (built in Python) reads the Provider’s </a:t>
            </a:r>
            <a:r>
              <a:rPr dirty="0" err="1"/>
              <a:t>OpenAPI</a:t>
            </a:r>
            <a:r>
              <a:rPr dirty="0"/>
              <a:t> specification — the machine-readable description of every endpoint auto-generated by </a:t>
            </a:r>
            <a:r>
              <a:rPr dirty="0" err="1"/>
              <a:t>springdoc</a:t>
            </a:r>
            <a:r>
              <a:rPr dirty="0"/>
              <a:t> — and automates the entire contract lifecycle:</a:t>
            </a:r>
          </a:p>
          <a:p>
            <a:pPr algn="l">
              <a:spcBef>
                <a:spcPts val="0"/>
              </a:spcBef>
              <a:spcAft>
                <a:spcPts val="0"/>
              </a:spcAft>
              <a:defRPr sz="200" b="0">
                <a:solidFill>
                  <a:srgbClr val="2C3E50"/>
                </a:solidFill>
                <a:latin typeface="Calibri"/>
              </a:defRPr>
            </a:pPr>
            <a:endParaRPr dirty="0"/>
          </a:p>
          <a:p>
            <a:pPr algn="l">
              <a:spcBef>
                <a:spcPts val="400"/>
              </a:spcBef>
              <a:spcAft>
                <a:spcPts val="0"/>
              </a:spcAft>
              <a:defRPr sz="850" b="0">
                <a:solidFill>
                  <a:srgbClr val="2C3E50"/>
                </a:solidFill>
                <a:latin typeface="Calibri"/>
              </a:defRPr>
            </a:pPr>
            <a:r>
              <a:rPr sz="850" b="1" dirty="0">
                <a:solidFill>
                  <a:srgbClr val="9B59B6"/>
                </a:solidFill>
                <a:latin typeface="Calibri"/>
              </a:rPr>
              <a:t>• Contract Generation — </a:t>
            </a:r>
            <a:r>
              <a:rPr sz="800" b="0" dirty="0">
                <a:solidFill>
                  <a:srgbClr val="2C3E50"/>
                </a:solidFill>
                <a:latin typeface="Calibri"/>
              </a:rPr>
              <a:t>The agent parses every endpoint from the </a:t>
            </a:r>
            <a:r>
              <a:rPr sz="800" b="0" dirty="0" err="1">
                <a:solidFill>
                  <a:srgbClr val="2C3E50"/>
                </a:solidFill>
                <a:latin typeface="Calibri"/>
              </a:rPr>
              <a:t>OpenAPI</a:t>
            </a:r>
            <a:r>
              <a:rPr sz="800" b="0" dirty="0">
                <a:solidFill>
                  <a:srgbClr val="2C3E50"/>
                </a:solidFill>
                <a:latin typeface="Calibri"/>
              </a:rPr>
              <a:t> spec, generates realistic sample request/response data based on field names and types (e.g., "email" fields get valid email samples, "id" fields get integer samples with regex matchers), and writes properly formatted Spring Cloud Contract YAML files. It generated the PUT and DELETE contracts for this project.</a:t>
            </a:r>
          </a:p>
          <a:p>
            <a:pPr algn="l">
              <a:spcBef>
                <a:spcPts val="400"/>
              </a:spcBef>
              <a:spcAft>
                <a:spcPts val="0"/>
              </a:spcAft>
              <a:defRPr sz="850" b="0">
                <a:solidFill>
                  <a:srgbClr val="2C3E50"/>
                </a:solidFill>
                <a:latin typeface="Calibri"/>
              </a:defRPr>
            </a:pPr>
            <a:r>
              <a:rPr sz="850" b="1" dirty="0">
                <a:solidFill>
                  <a:srgbClr val="9B59B6"/>
                </a:solidFill>
                <a:latin typeface="Calibri"/>
              </a:rPr>
              <a:t>• Drift Detection — </a:t>
            </a:r>
            <a:r>
              <a:rPr sz="800" b="0" dirty="0">
                <a:solidFill>
                  <a:srgbClr val="2C3E50"/>
                </a:solidFill>
                <a:latin typeface="Calibri"/>
              </a:rPr>
              <a:t>The agent compares existing contract files against the current live API spec. It detects three types of drift: uncovered endpoints (new API endpoints with no contract), orphaned contracts (contracts for removed endpoints), and schema drift (contracts whose fields no longer match the actual API response). This catches problems before they cause test failures.</a:t>
            </a:r>
          </a:p>
          <a:p>
            <a:pPr algn="l">
              <a:spcBef>
                <a:spcPts val="400"/>
              </a:spcBef>
              <a:spcAft>
                <a:spcPts val="0"/>
              </a:spcAft>
              <a:defRPr sz="850" b="0">
                <a:solidFill>
                  <a:srgbClr val="2C3E50"/>
                </a:solidFill>
                <a:latin typeface="Calibri"/>
              </a:defRPr>
            </a:pPr>
            <a:r>
              <a:rPr sz="850" b="1" dirty="0">
                <a:solidFill>
                  <a:srgbClr val="9B59B6"/>
                </a:solidFill>
                <a:latin typeface="Calibri"/>
              </a:rPr>
              <a:t>• Health Reporting — </a:t>
            </a:r>
            <a:r>
              <a:rPr sz="800" b="0" dirty="0">
                <a:solidFill>
                  <a:srgbClr val="2C3E50"/>
                </a:solidFill>
                <a:latin typeface="Calibri"/>
              </a:rPr>
              <a:t>Generates a comprehensive report showing contract coverage percentage, overall health status (Healthy/Warning/Critical), a detailed breakdown of every endpoint’s coverage, and specific remediation steps for every issue found.</a:t>
            </a:r>
          </a:p>
          <a:p>
            <a:pPr algn="l">
              <a:spcBef>
                <a:spcPts val="400"/>
              </a:spcBef>
              <a:spcAft>
                <a:spcPts val="0"/>
              </a:spcAft>
              <a:defRPr sz="850" b="0">
                <a:solidFill>
                  <a:srgbClr val="2C3E50"/>
                </a:solidFill>
                <a:latin typeface="Calibri"/>
              </a:defRPr>
            </a:pPr>
            <a:r>
              <a:rPr sz="850" b="1" dirty="0">
                <a:solidFill>
                  <a:srgbClr val="9B59B6"/>
                </a:solidFill>
                <a:latin typeface="Calibri"/>
              </a:rPr>
              <a:t>• CI/CD Validation — </a:t>
            </a:r>
            <a:r>
              <a:rPr sz="800" b="0" dirty="0">
                <a:solidFill>
                  <a:srgbClr val="2C3E50"/>
                </a:solidFill>
                <a:latin typeface="Calibri"/>
              </a:rPr>
              <a:t>Provides a CI-friendly validation mode with exit codes: 0 means all contracts are valid, 1 means warnings found (pipeline continues but needs review), and 2 means critical issues that should block deployment.</a:t>
            </a:r>
          </a:p>
          <a:p>
            <a:pPr algn="l">
              <a:spcBef>
                <a:spcPts val="400"/>
              </a:spcBef>
              <a:spcAft>
                <a:spcPts val="0"/>
              </a:spcAft>
              <a:defRPr sz="850" b="0">
                <a:solidFill>
                  <a:srgbClr val="2C3E50"/>
                </a:solidFill>
                <a:latin typeface="Calibri"/>
              </a:defRPr>
            </a:pPr>
            <a:r>
              <a:rPr sz="850" b="1" dirty="0">
                <a:solidFill>
                  <a:srgbClr val="9B59B6"/>
                </a:solidFill>
                <a:latin typeface="Calibri"/>
              </a:rPr>
              <a:t>• Pipeline Generation — </a:t>
            </a:r>
            <a:r>
              <a:rPr sz="800" b="0" dirty="0">
                <a:solidFill>
                  <a:srgbClr val="2C3E50"/>
                </a:solidFill>
                <a:latin typeface="Calibri"/>
              </a:rPr>
              <a:t>Auto-generates a complete GitLab CI YAML configuration by scanning the project structure. It detects Maven modules and creates a multi-stage pipeline with dependency caching, artifact passing, and deployment gating.</a:t>
            </a:r>
          </a:p>
        </p:txBody>
      </p:sp>
      <p:sp>
        <p:nvSpPr>
          <p:cNvPr id="14" name="Rounded Rectangle 13"/>
          <p:cNvSpPr/>
          <p:nvPr/>
        </p:nvSpPr>
        <p:spPr>
          <a:xfrm>
            <a:off x="6217920" y="3931920"/>
            <a:ext cx="5715000" cy="2788920"/>
          </a:xfrm>
          <a:prstGeom prst="roundRect">
            <a:avLst/>
          </a:prstGeom>
          <a:solidFill>
            <a:srgbClr val="FEF9E7"/>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3959352"/>
            <a:ext cx="5394960" cy="274320"/>
          </a:xfrm>
          <a:prstGeom prst="rect">
            <a:avLst/>
          </a:prstGeom>
          <a:noFill/>
        </p:spPr>
        <p:txBody>
          <a:bodyPr wrap="square">
            <a:spAutoFit/>
          </a:bodyPr>
          <a:lstStyle/>
          <a:p>
            <a:pPr algn="l">
              <a:defRPr sz="1500" b="1">
                <a:solidFill>
                  <a:srgbClr val="1E3A5F"/>
                </a:solidFill>
                <a:latin typeface="Calibri"/>
              </a:defRPr>
            </a:pPr>
            <a:r>
              <a:rPr dirty="0"/>
              <a:t>④  CI/CD Pipeline — Automated Build-Test-Deploy with Contract Gates</a:t>
            </a:r>
          </a:p>
        </p:txBody>
      </p:sp>
      <p:sp>
        <p:nvSpPr>
          <p:cNvPr id="16" name="TextBox 15"/>
          <p:cNvSpPr txBox="1"/>
          <p:nvPr/>
        </p:nvSpPr>
        <p:spPr>
          <a:xfrm>
            <a:off x="6355080" y="4279392"/>
            <a:ext cx="5394960" cy="2377440"/>
          </a:xfrm>
          <a:prstGeom prst="rect">
            <a:avLst/>
          </a:prstGeom>
          <a:noFill/>
        </p:spPr>
        <p:txBody>
          <a:bodyPr wrap="square">
            <a:spAutoFit/>
          </a:bodyPr>
          <a:lstStyle/>
          <a:p>
            <a:pPr algn="l">
              <a:defRPr sz="950" b="0">
                <a:solidFill>
                  <a:srgbClr val="2C3E50"/>
                </a:solidFill>
                <a:latin typeface="Calibri"/>
              </a:defRPr>
            </a:pPr>
            <a:r>
              <a:rPr dirty="0"/>
              <a:t>The AI Agent generated a complete GitLab CI pipeline configuration with 7 jobs organized across 4 stages. Each stage runs only after all jobs in the previous stage succeed, creating a quality gate that prevents broken code from advancing:</a:t>
            </a:r>
          </a:p>
          <a:p>
            <a:pPr algn="l">
              <a:spcBef>
                <a:spcPts val="0"/>
              </a:spcBef>
              <a:spcAft>
                <a:spcPts val="0"/>
              </a:spcAft>
              <a:defRPr sz="200" b="0">
                <a:solidFill>
                  <a:srgbClr val="2C3E50"/>
                </a:solidFill>
                <a:latin typeface="Calibri"/>
              </a:defRPr>
            </a:pPr>
            <a:endParaRPr dirty="0"/>
          </a:p>
          <a:p>
            <a:pPr algn="l">
              <a:spcBef>
                <a:spcPts val="400"/>
              </a:spcBef>
              <a:spcAft>
                <a:spcPts val="0"/>
              </a:spcAft>
              <a:defRPr sz="850" b="0">
                <a:solidFill>
                  <a:srgbClr val="2C3E50"/>
                </a:solidFill>
                <a:latin typeface="Calibri"/>
              </a:defRPr>
            </a:pPr>
            <a:r>
              <a:rPr sz="850" b="1" dirty="0">
                <a:solidFill>
                  <a:srgbClr val="F39C12"/>
                </a:solidFill>
                <a:latin typeface="Calibri"/>
              </a:rPr>
              <a:t>Stage 1 — BUILD:  </a:t>
            </a:r>
            <a:r>
              <a:rPr sz="800" b="0" dirty="0">
                <a:solidFill>
                  <a:srgbClr val="2C3E50"/>
                </a:solidFill>
                <a:latin typeface="Calibri"/>
              </a:rPr>
              <a:t>Both the Provider and Consumer APIs are compiled using Maven. This catches compilation errors early before spending time on expensive contract tests. Jobs run in parallel for speed. Only triggered when relevant files change.</a:t>
            </a:r>
          </a:p>
          <a:p>
            <a:pPr algn="l">
              <a:spcBef>
                <a:spcPts val="400"/>
              </a:spcBef>
              <a:spcAft>
                <a:spcPts val="0"/>
              </a:spcAft>
              <a:defRPr sz="850" b="0">
                <a:solidFill>
                  <a:srgbClr val="2C3E50"/>
                </a:solidFill>
                <a:latin typeface="Calibri"/>
              </a:defRPr>
            </a:pPr>
            <a:r>
              <a:rPr sz="850" b="1" dirty="0">
                <a:solidFill>
                  <a:srgbClr val="F39C12"/>
                </a:solidFill>
                <a:latin typeface="Calibri"/>
              </a:rPr>
              <a:t>Stage 2 — TEST (Critical):  </a:t>
            </a:r>
            <a:r>
              <a:rPr sz="800" b="0" dirty="0">
                <a:solidFill>
                  <a:srgbClr val="2C3E50"/>
                </a:solidFill>
                <a:latin typeface="Calibri"/>
              </a:rPr>
              <a:t>This is the heart of the pipeline. Three jobs run in parallel: (a) Provider contract tests — Spring Cloud Contract Verifier runs all 5 contracts against the real Provider API and generates the Stubs JAR; (b) Consumer contract tests — Stub Runner loads the Provider’s stubs and verifies the Consumer’s HTTP client works correctly; (c) AI Agent drift check — validates that all contracts are in sync with the live API specification.</a:t>
            </a:r>
          </a:p>
          <a:p>
            <a:pPr algn="l">
              <a:spcBef>
                <a:spcPts val="400"/>
              </a:spcBef>
              <a:spcAft>
                <a:spcPts val="0"/>
              </a:spcAft>
              <a:defRPr sz="850" b="0">
                <a:solidFill>
                  <a:srgbClr val="2C3E50"/>
                </a:solidFill>
                <a:latin typeface="Calibri"/>
              </a:defRPr>
            </a:pPr>
            <a:r>
              <a:rPr sz="850" b="1" dirty="0">
                <a:solidFill>
                  <a:srgbClr val="F39C12"/>
                </a:solidFill>
                <a:latin typeface="Calibri"/>
              </a:rPr>
              <a:t>Stage 3 — REPORT:  </a:t>
            </a:r>
            <a:r>
              <a:rPr sz="800" b="0" dirty="0">
                <a:solidFill>
                  <a:srgbClr val="2C3E50"/>
                </a:solidFill>
                <a:latin typeface="Calibri"/>
              </a:rPr>
              <a:t>Collects all JUnit XML test results from the test stage, generates a consolidated summary, and integrates the results with GitLab’s Merge Request UI so that code reviewers can see contract test results directly in the MR without having to check pipeline logs.</a:t>
            </a:r>
          </a:p>
          <a:p>
            <a:pPr algn="l">
              <a:spcBef>
                <a:spcPts val="400"/>
              </a:spcBef>
              <a:spcAft>
                <a:spcPts val="0"/>
              </a:spcAft>
              <a:defRPr sz="850" b="0">
                <a:solidFill>
                  <a:srgbClr val="2C3E50"/>
                </a:solidFill>
                <a:latin typeface="Calibri"/>
              </a:defRPr>
            </a:pPr>
            <a:r>
              <a:rPr sz="850" b="1" dirty="0">
                <a:solidFill>
                  <a:srgbClr val="F39C12"/>
                </a:solidFill>
                <a:latin typeface="Calibri"/>
              </a:rPr>
              <a:t>Stage 4 — DEPLOY (Gated):  </a:t>
            </a:r>
            <a:r>
              <a:rPr sz="800" b="0" dirty="0">
                <a:solidFill>
                  <a:srgbClr val="2C3E50"/>
                </a:solidFill>
                <a:latin typeface="Calibri"/>
              </a:rPr>
              <a:t>Deployment only executes if ALL tests in the previous stages passed AND the push is to the main branch. If any contract test failed, this stage never runs — effectively blocking broken API changes from reaching production. This is the key safety net that makes the entire system valuable.</a:t>
            </a:r>
          </a:p>
          <a:p>
            <a:pPr algn="l">
              <a:spcBef>
                <a:spcPts val="0"/>
              </a:spcBef>
              <a:spcAft>
                <a:spcPts val="0"/>
              </a:spcAft>
              <a:defRPr sz="200" b="0">
                <a:solidFill>
                  <a:srgbClr val="2C3E50"/>
                </a:solidFill>
                <a:latin typeface="Calibri"/>
              </a:defRPr>
            </a:pPr>
            <a:endParaRPr sz="800" b="0" dirty="0">
              <a:solidFill>
                <a:srgbClr val="2C3E50"/>
              </a:solidFill>
              <a:latin typeface="Calibri"/>
            </a:endParaRPr>
          </a:p>
          <a:p>
            <a:pPr algn="l">
              <a:spcBef>
                <a:spcPts val="300"/>
              </a:spcBef>
              <a:spcAft>
                <a:spcPts val="0"/>
              </a:spcAft>
              <a:defRPr sz="800" b="0">
                <a:solidFill>
                  <a:srgbClr val="7F8C8D"/>
                </a:solidFill>
                <a:latin typeface="Calibri"/>
              </a:defRPr>
            </a:pPr>
            <a:r>
              <a:rPr dirty="0"/>
              <a:t>The pipeline uses Maven dependency caching between runs for faster builds, passes the Provider’s Stubs JAR as a build artifact to the Consumer test job, and runs inside a Docker container with Java 17 and Maven pre-installed.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91440"/>
            <a:ext cx="10972800" cy="411480"/>
          </a:xfrm>
          <a:prstGeom prst="rect">
            <a:avLst/>
          </a:prstGeom>
          <a:noFill/>
        </p:spPr>
        <p:txBody>
          <a:bodyPr wrap="square">
            <a:spAutoFit/>
          </a:bodyPr>
          <a:lstStyle/>
          <a:p>
            <a:pPr algn="l">
              <a:defRPr sz="2800" b="1">
                <a:solidFill>
                  <a:srgbClr val="FFFFFF"/>
                </a:solidFill>
                <a:latin typeface="Calibri"/>
              </a:defRPr>
            </a:pPr>
            <a:r>
              <a:t>Results, Live Proof &amp; Future Roadmap</a:t>
            </a:r>
          </a:p>
        </p:txBody>
      </p:sp>
      <p:sp>
        <p:nvSpPr>
          <p:cNvPr id="4" name="TextBox 3"/>
          <p:cNvSpPr txBox="1"/>
          <p:nvPr/>
        </p:nvSpPr>
        <p:spPr>
          <a:xfrm>
            <a:off x="457200" y="457200"/>
            <a:ext cx="10972800" cy="274320"/>
          </a:xfrm>
          <a:prstGeom prst="rect">
            <a:avLst/>
          </a:prstGeom>
          <a:noFill/>
        </p:spPr>
        <p:txBody>
          <a:bodyPr wrap="square">
            <a:spAutoFit/>
          </a:bodyPr>
          <a:lstStyle/>
          <a:p>
            <a:pPr algn="l">
              <a:defRPr sz="1100" b="0">
                <a:solidFill>
                  <a:srgbClr val="BDCFE4"/>
                </a:solidFill>
                <a:latin typeface="Calibri"/>
              </a:defRPr>
            </a:pPr>
            <a:r>
              <a:t>Quantified outcomes demonstrating the system works  •  A live breaking-change demonstration  •  Planned enhancements</a:t>
            </a:r>
          </a:p>
        </p:txBody>
      </p:sp>
      <p:sp>
        <p:nvSpPr>
          <p:cNvPr id="5" name="Rounded Rectangle 4"/>
          <p:cNvSpPr/>
          <p:nvPr/>
        </p:nvSpPr>
        <p:spPr>
          <a:xfrm>
            <a:off x="228600" y="914400"/>
            <a:ext cx="1828800" cy="1417320"/>
          </a:xfrm>
          <a:prstGeom prst="roundRect">
            <a:avLst/>
          </a:prstGeom>
          <a:solidFill>
            <a:srgbClr val="FFFFF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28600" y="932688"/>
            <a:ext cx="1828800" cy="457200"/>
          </a:xfrm>
          <a:prstGeom prst="rect">
            <a:avLst/>
          </a:prstGeom>
          <a:noFill/>
        </p:spPr>
        <p:txBody>
          <a:bodyPr wrap="square">
            <a:spAutoFit/>
          </a:bodyPr>
          <a:lstStyle/>
          <a:p>
            <a:pPr algn="ctr">
              <a:defRPr sz="2200" b="1">
                <a:solidFill>
                  <a:srgbClr val="2ECC71"/>
                </a:solidFill>
                <a:latin typeface="Calibri"/>
              </a:defRPr>
            </a:pPr>
            <a:r>
              <a:t>100%</a:t>
            </a:r>
          </a:p>
        </p:txBody>
      </p:sp>
      <p:sp>
        <p:nvSpPr>
          <p:cNvPr id="7" name="TextBox 6"/>
          <p:cNvSpPr txBox="1"/>
          <p:nvPr/>
        </p:nvSpPr>
        <p:spPr>
          <a:xfrm>
            <a:off x="228600" y="1353312"/>
            <a:ext cx="1828800" cy="228600"/>
          </a:xfrm>
          <a:prstGeom prst="rect">
            <a:avLst/>
          </a:prstGeom>
          <a:noFill/>
        </p:spPr>
        <p:txBody>
          <a:bodyPr wrap="square">
            <a:spAutoFit/>
          </a:bodyPr>
          <a:lstStyle/>
          <a:p>
            <a:pPr algn="ctr">
              <a:defRPr sz="1000" b="1">
                <a:solidFill>
                  <a:srgbClr val="2C3E50"/>
                </a:solidFill>
                <a:latin typeface="Calibri"/>
              </a:defRPr>
            </a:pPr>
            <a:r>
              <a:t>API Coverage</a:t>
            </a:r>
          </a:p>
        </p:txBody>
      </p:sp>
      <p:sp>
        <p:nvSpPr>
          <p:cNvPr id="8" name="TextBox 7"/>
          <p:cNvSpPr txBox="1"/>
          <p:nvPr/>
        </p:nvSpPr>
        <p:spPr>
          <a:xfrm>
            <a:off x="228600" y="1600200"/>
            <a:ext cx="1828800" cy="685800"/>
          </a:xfrm>
          <a:prstGeom prst="rect">
            <a:avLst/>
          </a:prstGeom>
          <a:noFill/>
        </p:spPr>
        <p:txBody>
          <a:bodyPr wrap="square">
            <a:spAutoFit/>
          </a:bodyPr>
          <a:lstStyle/>
          <a:p>
            <a:pPr algn="ctr">
              <a:defRPr sz="700" b="0">
                <a:solidFill>
                  <a:srgbClr val="7F8C8D"/>
                </a:solidFill>
                <a:latin typeface="Calibri"/>
              </a:defRPr>
            </a:pPr>
            <a:r>
              <a:t>Every single endpoint in the</a:t>
            </a:r>
            <a:br/>
            <a:r>
              <a:t>Provider API has a contract</a:t>
            </a:r>
            <a:br/>
            <a:r>
              <a:t>YAML file verifying its behavior</a:t>
            </a:r>
          </a:p>
        </p:txBody>
      </p:sp>
      <p:sp>
        <p:nvSpPr>
          <p:cNvPr id="9" name="Rounded Rectangle 8"/>
          <p:cNvSpPr/>
          <p:nvPr/>
        </p:nvSpPr>
        <p:spPr>
          <a:xfrm>
            <a:off x="2194560" y="914400"/>
            <a:ext cx="1828800" cy="141732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94560" y="932688"/>
            <a:ext cx="1828800" cy="457200"/>
          </a:xfrm>
          <a:prstGeom prst="rect">
            <a:avLst/>
          </a:prstGeom>
          <a:noFill/>
        </p:spPr>
        <p:txBody>
          <a:bodyPr wrap="square">
            <a:spAutoFit/>
          </a:bodyPr>
          <a:lstStyle/>
          <a:p>
            <a:pPr algn="ctr">
              <a:defRPr sz="2200" b="1">
                <a:solidFill>
                  <a:srgbClr val="1E3A5F"/>
                </a:solidFill>
                <a:latin typeface="Calibri"/>
              </a:defRPr>
            </a:pPr>
            <a:r>
              <a:t>6 / 6</a:t>
            </a:r>
          </a:p>
        </p:txBody>
      </p:sp>
      <p:sp>
        <p:nvSpPr>
          <p:cNvPr id="11" name="TextBox 10"/>
          <p:cNvSpPr txBox="1"/>
          <p:nvPr/>
        </p:nvSpPr>
        <p:spPr>
          <a:xfrm>
            <a:off x="2194560" y="1353312"/>
            <a:ext cx="1828800" cy="228600"/>
          </a:xfrm>
          <a:prstGeom prst="rect">
            <a:avLst/>
          </a:prstGeom>
          <a:noFill/>
        </p:spPr>
        <p:txBody>
          <a:bodyPr wrap="square">
            <a:spAutoFit/>
          </a:bodyPr>
          <a:lstStyle/>
          <a:p>
            <a:pPr algn="ctr">
              <a:defRPr sz="1000" b="1">
                <a:solidFill>
                  <a:srgbClr val="2C3E50"/>
                </a:solidFill>
                <a:latin typeface="Calibri"/>
              </a:defRPr>
            </a:pPr>
            <a:r>
              <a:t>Provider Tests</a:t>
            </a:r>
          </a:p>
        </p:txBody>
      </p:sp>
      <p:sp>
        <p:nvSpPr>
          <p:cNvPr id="12" name="TextBox 11"/>
          <p:cNvSpPr txBox="1"/>
          <p:nvPr/>
        </p:nvSpPr>
        <p:spPr>
          <a:xfrm>
            <a:off x="2194560" y="1600200"/>
            <a:ext cx="1828800" cy="685800"/>
          </a:xfrm>
          <a:prstGeom prst="rect">
            <a:avLst/>
          </a:prstGeom>
          <a:noFill/>
        </p:spPr>
        <p:txBody>
          <a:bodyPr wrap="square">
            <a:spAutoFit/>
          </a:bodyPr>
          <a:lstStyle/>
          <a:p>
            <a:pPr algn="ctr">
              <a:defRPr sz="700" b="0">
                <a:solidFill>
                  <a:srgbClr val="7F8C8D"/>
                </a:solidFill>
                <a:latin typeface="Calibri"/>
              </a:defRPr>
            </a:pPr>
            <a:r>
              <a:t>5 auto-generated contract tests</a:t>
            </a:r>
            <a:br/>
            <a:r>
              <a:t>plus 1 application smoke test—</a:t>
            </a:r>
            <a:br/>
            <a:r>
              <a:t>all passing on every build</a:t>
            </a:r>
          </a:p>
        </p:txBody>
      </p:sp>
      <p:sp>
        <p:nvSpPr>
          <p:cNvPr id="13" name="Rounded Rectangle 12"/>
          <p:cNvSpPr/>
          <p:nvPr/>
        </p:nvSpPr>
        <p:spPr>
          <a:xfrm>
            <a:off x="4160520" y="914400"/>
            <a:ext cx="1828800" cy="141732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60520" y="932688"/>
            <a:ext cx="1828800" cy="457200"/>
          </a:xfrm>
          <a:prstGeom prst="rect">
            <a:avLst/>
          </a:prstGeom>
          <a:noFill/>
        </p:spPr>
        <p:txBody>
          <a:bodyPr wrap="square">
            <a:spAutoFit/>
          </a:bodyPr>
          <a:lstStyle/>
          <a:p>
            <a:pPr algn="ctr">
              <a:defRPr sz="2200" b="1">
                <a:solidFill>
                  <a:srgbClr val="1E3A5F"/>
                </a:solidFill>
                <a:latin typeface="Calibri"/>
              </a:defRPr>
            </a:pPr>
            <a:r>
              <a:t>2 / 2</a:t>
            </a:r>
          </a:p>
        </p:txBody>
      </p:sp>
      <p:sp>
        <p:nvSpPr>
          <p:cNvPr id="15" name="TextBox 14"/>
          <p:cNvSpPr txBox="1"/>
          <p:nvPr/>
        </p:nvSpPr>
        <p:spPr>
          <a:xfrm>
            <a:off x="4160520" y="1353312"/>
            <a:ext cx="1828800" cy="228600"/>
          </a:xfrm>
          <a:prstGeom prst="rect">
            <a:avLst/>
          </a:prstGeom>
          <a:noFill/>
        </p:spPr>
        <p:txBody>
          <a:bodyPr wrap="square">
            <a:spAutoFit/>
          </a:bodyPr>
          <a:lstStyle/>
          <a:p>
            <a:pPr algn="ctr">
              <a:defRPr sz="1000" b="1">
                <a:solidFill>
                  <a:srgbClr val="2C3E50"/>
                </a:solidFill>
                <a:latin typeface="Calibri"/>
              </a:defRPr>
            </a:pPr>
            <a:r>
              <a:t>Consumer Tests</a:t>
            </a:r>
          </a:p>
        </p:txBody>
      </p:sp>
      <p:sp>
        <p:nvSpPr>
          <p:cNvPr id="16" name="TextBox 15"/>
          <p:cNvSpPr txBox="1"/>
          <p:nvPr/>
        </p:nvSpPr>
        <p:spPr>
          <a:xfrm>
            <a:off x="4160520" y="1600200"/>
            <a:ext cx="1828800" cy="685800"/>
          </a:xfrm>
          <a:prstGeom prst="rect">
            <a:avLst/>
          </a:prstGeom>
          <a:noFill/>
        </p:spPr>
        <p:txBody>
          <a:bodyPr wrap="square">
            <a:spAutoFit/>
          </a:bodyPr>
          <a:lstStyle/>
          <a:p>
            <a:pPr algn="ctr">
              <a:defRPr sz="700" b="0">
                <a:solidFill>
                  <a:srgbClr val="7F8C8D"/>
                </a:solidFill>
                <a:latin typeface="Calibri"/>
              </a:defRPr>
            </a:pPr>
            <a:r>
              <a:t>1 contract test via WireMock</a:t>
            </a:r>
            <a:br/>
            <a:r>
              <a:t>stubs plus 1 smoke test—</a:t>
            </a:r>
            <a:br/>
            <a:r>
              <a:t>Consumer verified independently</a:t>
            </a:r>
          </a:p>
        </p:txBody>
      </p:sp>
      <p:sp>
        <p:nvSpPr>
          <p:cNvPr id="17" name="Rounded Rectangle 16"/>
          <p:cNvSpPr/>
          <p:nvPr/>
        </p:nvSpPr>
        <p:spPr>
          <a:xfrm>
            <a:off x="6126479" y="914400"/>
            <a:ext cx="1828800" cy="1417320"/>
          </a:xfrm>
          <a:prstGeom prst="roundRect">
            <a:avLst/>
          </a:prstGeom>
          <a:solidFill>
            <a:srgbClr val="FFFFFF"/>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79" y="932688"/>
            <a:ext cx="1828800" cy="457200"/>
          </a:xfrm>
          <a:prstGeom prst="rect">
            <a:avLst/>
          </a:prstGeom>
          <a:noFill/>
        </p:spPr>
        <p:txBody>
          <a:bodyPr wrap="square">
            <a:spAutoFit/>
          </a:bodyPr>
          <a:lstStyle/>
          <a:p>
            <a:pPr algn="ctr">
              <a:defRPr sz="2200" b="1">
                <a:solidFill>
                  <a:srgbClr val="9B59B6"/>
                </a:solidFill>
                <a:latin typeface="Calibri"/>
              </a:defRPr>
            </a:pPr>
            <a:r>
              <a:t>2 of 5</a:t>
            </a:r>
          </a:p>
        </p:txBody>
      </p:sp>
      <p:sp>
        <p:nvSpPr>
          <p:cNvPr id="19" name="TextBox 18"/>
          <p:cNvSpPr txBox="1"/>
          <p:nvPr/>
        </p:nvSpPr>
        <p:spPr>
          <a:xfrm>
            <a:off x="6126479" y="1353312"/>
            <a:ext cx="1828800" cy="228600"/>
          </a:xfrm>
          <a:prstGeom prst="rect">
            <a:avLst/>
          </a:prstGeom>
          <a:noFill/>
        </p:spPr>
        <p:txBody>
          <a:bodyPr wrap="square">
            <a:spAutoFit/>
          </a:bodyPr>
          <a:lstStyle/>
          <a:p>
            <a:pPr algn="ctr">
              <a:defRPr sz="1000" b="1">
                <a:solidFill>
                  <a:srgbClr val="2C3E50"/>
                </a:solidFill>
                <a:latin typeface="Calibri"/>
              </a:defRPr>
            </a:pPr>
            <a:r>
              <a:t>AI-Generated</a:t>
            </a:r>
          </a:p>
        </p:txBody>
      </p:sp>
      <p:sp>
        <p:nvSpPr>
          <p:cNvPr id="20" name="TextBox 19"/>
          <p:cNvSpPr txBox="1"/>
          <p:nvPr/>
        </p:nvSpPr>
        <p:spPr>
          <a:xfrm>
            <a:off x="6126479" y="1600200"/>
            <a:ext cx="1828800" cy="685800"/>
          </a:xfrm>
          <a:prstGeom prst="rect">
            <a:avLst/>
          </a:prstGeom>
          <a:noFill/>
        </p:spPr>
        <p:txBody>
          <a:bodyPr wrap="square">
            <a:spAutoFit/>
          </a:bodyPr>
          <a:lstStyle/>
          <a:p>
            <a:pPr algn="ctr">
              <a:defRPr sz="700" b="0">
                <a:solidFill>
                  <a:srgbClr val="7F8C8D"/>
                </a:solidFill>
                <a:latin typeface="Calibri"/>
              </a:defRPr>
            </a:pPr>
            <a:r>
              <a:t>The AI Agent automatically</a:t>
            </a:r>
            <a:br/>
            <a:r>
              <a:t>generated the PUT and DELETE</a:t>
            </a:r>
            <a:br/>
            <a:r>
              <a:t>contracts from the OpenAPI spec</a:t>
            </a:r>
          </a:p>
        </p:txBody>
      </p:sp>
      <p:sp>
        <p:nvSpPr>
          <p:cNvPr id="21" name="Rounded Rectangle 20"/>
          <p:cNvSpPr/>
          <p:nvPr/>
        </p:nvSpPr>
        <p:spPr>
          <a:xfrm>
            <a:off x="8092440" y="914400"/>
            <a:ext cx="1828800" cy="1417320"/>
          </a:xfrm>
          <a:prstGeom prst="round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92440" y="932688"/>
            <a:ext cx="1828800" cy="457200"/>
          </a:xfrm>
          <a:prstGeom prst="rect">
            <a:avLst/>
          </a:prstGeom>
          <a:noFill/>
        </p:spPr>
        <p:txBody>
          <a:bodyPr wrap="square">
            <a:spAutoFit/>
          </a:bodyPr>
          <a:lstStyle/>
          <a:p>
            <a:pPr algn="ctr">
              <a:defRPr sz="2200" b="1">
                <a:solidFill>
                  <a:srgbClr val="F39C12"/>
                </a:solidFill>
                <a:latin typeface="Calibri"/>
              </a:defRPr>
            </a:pPr>
            <a:r>
              <a:t>7 Jobs</a:t>
            </a:r>
          </a:p>
        </p:txBody>
      </p:sp>
      <p:sp>
        <p:nvSpPr>
          <p:cNvPr id="23" name="TextBox 22"/>
          <p:cNvSpPr txBox="1"/>
          <p:nvPr/>
        </p:nvSpPr>
        <p:spPr>
          <a:xfrm>
            <a:off x="8092440" y="1353312"/>
            <a:ext cx="1828800" cy="228600"/>
          </a:xfrm>
          <a:prstGeom prst="rect">
            <a:avLst/>
          </a:prstGeom>
          <a:noFill/>
        </p:spPr>
        <p:txBody>
          <a:bodyPr wrap="square">
            <a:spAutoFit/>
          </a:bodyPr>
          <a:lstStyle/>
          <a:p>
            <a:pPr algn="ctr">
              <a:defRPr sz="1000" b="1">
                <a:solidFill>
                  <a:srgbClr val="2C3E50"/>
                </a:solidFill>
                <a:latin typeface="Calibri"/>
              </a:defRPr>
            </a:pPr>
            <a:r>
              <a:t>CI/CD Pipeline</a:t>
            </a:r>
          </a:p>
        </p:txBody>
      </p:sp>
      <p:sp>
        <p:nvSpPr>
          <p:cNvPr id="24" name="TextBox 23"/>
          <p:cNvSpPr txBox="1"/>
          <p:nvPr/>
        </p:nvSpPr>
        <p:spPr>
          <a:xfrm>
            <a:off x="8092440" y="1600200"/>
            <a:ext cx="1828800" cy="685800"/>
          </a:xfrm>
          <a:prstGeom prst="rect">
            <a:avLst/>
          </a:prstGeom>
          <a:noFill/>
        </p:spPr>
        <p:txBody>
          <a:bodyPr wrap="square">
            <a:spAutoFit/>
          </a:bodyPr>
          <a:lstStyle/>
          <a:p>
            <a:pPr algn="ctr">
              <a:defRPr sz="700" b="0">
                <a:solidFill>
                  <a:srgbClr val="7F8C8D"/>
                </a:solidFill>
                <a:latin typeface="Calibri"/>
              </a:defRPr>
            </a:pPr>
            <a:r>
              <a:t>Build, test, report, and deploy</a:t>
            </a:r>
            <a:br/>
            <a:r>
              <a:t>across 4 stages—fully automated</a:t>
            </a:r>
            <a:br/>
            <a:r>
              <a:t>on every git push to GitLab</a:t>
            </a:r>
          </a:p>
        </p:txBody>
      </p:sp>
      <p:sp>
        <p:nvSpPr>
          <p:cNvPr id="25" name="Rounded Rectangle 24"/>
          <p:cNvSpPr/>
          <p:nvPr/>
        </p:nvSpPr>
        <p:spPr>
          <a:xfrm>
            <a:off x="10058400" y="914400"/>
            <a:ext cx="1828800" cy="1417320"/>
          </a:xfrm>
          <a:prstGeom prst="roundRect">
            <a:avLst/>
          </a:prstGeom>
          <a:solidFill>
            <a:srgbClr val="FFFFF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58400" y="932688"/>
            <a:ext cx="1828800" cy="457200"/>
          </a:xfrm>
          <a:prstGeom prst="rect">
            <a:avLst/>
          </a:prstGeom>
          <a:noFill/>
        </p:spPr>
        <p:txBody>
          <a:bodyPr wrap="square">
            <a:spAutoFit/>
          </a:bodyPr>
          <a:lstStyle/>
          <a:p>
            <a:pPr algn="ctr">
              <a:defRPr sz="2200" b="1">
                <a:solidFill>
                  <a:srgbClr val="2ECC71"/>
                </a:solidFill>
                <a:latin typeface="Calibri"/>
              </a:defRPr>
            </a:pPr>
            <a:r>
              <a:t>✅ Healthy</a:t>
            </a:r>
          </a:p>
        </p:txBody>
      </p:sp>
      <p:sp>
        <p:nvSpPr>
          <p:cNvPr id="27" name="TextBox 26"/>
          <p:cNvSpPr txBox="1"/>
          <p:nvPr/>
        </p:nvSpPr>
        <p:spPr>
          <a:xfrm>
            <a:off x="10058400" y="1353312"/>
            <a:ext cx="1828800" cy="228600"/>
          </a:xfrm>
          <a:prstGeom prst="rect">
            <a:avLst/>
          </a:prstGeom>
          <a:noFill/>
        </p:spPr>
        <p:txBody>
          <a:bodyPr wrap="square">
            <a:spAutoFit/>
          </a:bodyPr>
          <a:lstStyle/>
          <a:p>
            <a:pPr algn="ctr">
              <a:defRPr sz="1000" b="1">
                <a:solidFill>
                  <a:srgbClr val="2C3E50"/>
                </a:solidFill>
                <a:latin typeface="Calibri"/>
              </a:defRPr>
            </a:pPr>
            <a:r>
              <a:t>Drift Status</a:t>
            </a:r>
          </a:p>
        </p:txBody>
      </p:sp>
      <p:sp>
        <p:nvSpPr>
          <p:cNvPr id="28" name="TextBox 27"/>
          <p:cNvSpPr txBox="1"/>
          <p:nvPr/>
        </p:nvSpPr>
        <p:spPr>
          <a:xfrm>
            <a:off x="10058400" y="1600200"/>
            <a:ext cx="1828800" cy="685800"/>
          </a:xfrm>
          <a:prstGeom prst="rect">
            <a:avLst/>
          </a:prstGeom>
          <a:noFill/>
        </p:spPr>
        <p:txBody>
          <a:bodyPr wrap="square">
            <a:spAutoFit/>
          </a:bodyPr>
          <a:lstStyle/>
          <a:p>
            <a:pPr algn="ctr">
              <a:defRPr sz="700" b="0">
                <a:solidFill>
                  <a:srgbClr val="7F8C8D"/>
                </a:solidFill>
                <a:latin typeface="Calibri"/>
              </a:defRPr>
            </a:pPr>
            <a:r>
              <a:t>Zero orphaned contracts, zero</a:t>
            </a:r>
            <a:br/>
            <a:r>
              <a:t>schema drift—every contract</a:t>
            </a:r>
            <a:br/>
            <a:r>
              <a:t>matches the live API perfectly</a:t>
            </a:r>
          </a:p>
        </p:txBody>
      </p:sp>
      <p:sp>
        <p:nvSpPr>
          <p:cNvPr id="29" name="Rounded Rectangle 28"/>
          <p:cNvSpPr/>
          <p:nvPr/>
        </p:nvSpPr>
        <p:spPr>
          <a:xfrm>
            <a:off x="228600" y="2514600"/>
            <a:ext cx="5806440" cy="2514600"/>
          </a:xfrm>
          <a:prstGeom prst="roundRect">
            <a:avLst/>
          </a:prstGeom>
          <a:solidFill>
            <a:srgbClr val="FDEDEC"/>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2542032"/>
            <a:ext cx="5486400" cy="274320"/>
          </a:xfrm>
          <a:prstGeom prst="rect">
            <a:avLst/>
          </a:prstGeom>
          <a:noFill/>
        </p:spPr>
        <p:txBody>
          <a:bodyPr wrap="square">
            <a:spAutoFit/>
          </a:bodyPr>
          <a:lstStyle/>
          <a:p>
            <a:pPr algn="l">
              <a:defRPr sz="1400" b="1">
                <a:solidFill>
                  <a:srgbClr val="E74C3C"/>
                </a:solidFill>
                <a:latin typeface="Calibri"/>
              </a:defRPr>
            </a:pPr>
            <a:r>
              <a:t>🚨  Proving It Works — A Breaking Change Caught Live</a:t>
            </a:r>
          </a:p>
        </p:txBody>
      </p:sp>
      <p:sp>
        <p:nvSpPr>
          <p:cNvPr id="31" name="TextBox 30"/>
          <p:cNvSpPr txBox="1"/>
          <p:nvPr/>
        </p:nvSpPr>
        <p:spPr>
          <a:xfrm>
            <a:off x="365760" y="2834640"/>
            <a:ext cx="5486400" cy="2148840"/>
          </a:xfrm>
          <a:prstGeom prst="rect">
            <a:avLst/>
          </a:prstGeom>
          <a:noFill/>
        </p:spPr>
        <p:txBody>
          <a:bodyPr wrap="square">
            <a:spAutoFit/>
          </a:bodyPr>
          <a:lstStyle/>
          <a:p>
            <a:pPr algn="l">
              <a:defRPr sz="950" b="0">
                <a:solidFill>
                  <a:srgbClr val="2C3E50"/>
                </a:solidFill>
                <a:latin typeface="Calibri"/>
              </a:defRPr>
            </a:pPr>
            <a:r>
              <a:t>To prove that contract testing catches real breaking changes, we performed a live demonstration:</a:t>
            </a:r>
          </a:p>
          <a:p>
            <a:pPr algn="l">
              <a:spcBef>
                <a:spcPts val="0"/>
              </a:spcBef>
              <a:spcAft>
                <a:spcPts val="0"/>
              </a:spcAft>
              <a:defRPr sz="200" b="0">
                <a:solidFill>
                  <a:srgbClr val="2C3E50"/>
                </a:solidFill>
                <a:latin typeface="Calibri"/>
              </a:defRPr>
            </a:pPr>
            <a:endParaRPr/>
          </a:p>
          <a:p>
            <a:pPr algn="l">
              <a:spcBef>
                <a:spcPts val="300"/>
              </a:spcBef>
              <a:spcAft>
                <a:spcPts val="0"/>
              </a:spcAft>
              <a:defRPr sz="900" b="0">
                <a:solidFill>
                  <a:srgbClr val="2C3E50"/>
                </a:solidFill>
                <a:latin typeface="Calibri"/>
              </a:defRPr>
            </a:pPr>
            <a:r>
              <a:rPr sz="900" b="1">
                <a:solidFill>
                  <a:srgbClr val="2C3E50"/>
                </a:solidFill>
                <a:latin typeface="Calibri"/>
              </a:rPr>
              <a:t>①  We modified a contract YAML file, </a:t>
            </a:r>
            <a:r>
              <a:rPr sz="900" b="0">
                <a:solidFill>
                  <a:srgbClr val="2C3E50"/>
                </a:solidFill>
                <a:latin typeface="Calibri"/>
              </a:rPr>
              <a:t>changing the expected field name from "name" to "fullName". This simulates what would happen if a Provider team renamed a field in their API without telling the Consumer team.</a:t>
            </a:r>
          </a:p>
          <a:p>
            <a:pPr algn="l">
              <a:spcBef>
                <a:spcPts val="300"/>
              </a:spcBef>
              <a:spcAft>
                <a:spcPts val="0"/>
              </a:spcAft>
              <a:defRPr sz="900" b="0">
                <a:solidFill>
                  <a:srgbClr val="2C3E50"/>
                </a:solidFill>
                <a:latin typeface="Calibri"/>
              </a:defRPr>
            </a:pPr>
            <a:r>
              <a:rPr sz="900" b="1">
                <a:solidFill>
                  <a:srgbClr val="2C3E50"/>
                </a:solidFill>
                <a:latin typeface="Calibri"/>
              </a:rPr>
              <a:t>②  We ran the Provider’s Maven build. </a:t>
            </a:r>
            <a:r>
              <a:rPr sz="900" b="0">
                <a:solidFill>
                  <a:srgbClr val="2C3E50"/>
                </a:solidFill>
                <a:latin typeface="Calibri"/>
              </a:rPr>
              <a:t>Spring Cloud Contract’s Verifier immediately detected that the real API returns a field called "name" but the contract now expects "fullName". The auto-generated test failed with a clear error message showing exactly which field was wrong and what the expected vs actual values were.</a:t>
            </a:r>
          </a:p>
          <a:p>
            <a:pPr algn="l">
              <a:spcBef>
                <a:spcPts val="300"/>
              </a:spcBef>
              <a:spcAft>
                <a:spcPts val="0"/>
              </a:spcAft>
              <a:defRPr sz="900" b="0">
                <a:solidFill>
                  <a:srgbClr val="2C3E50"/>
                </a:solidFill>
                <a:latin typeface="Calibri"/>
              </a:defRPr>
            </a:pPr>
            <a:r>
              <a:rPr sz="900" b="1">
                <a:solidFill>
                  <a:srgbClr val="E74C3C"/>
                </a:solidFill>
                <a:latin typeface="Calibri"/>
              </a:rPr>
              <a:t>③  The build FAILED and deployment was BLOCKED. </a:t>
            </a:r>
            <a:r>
              <a:rPr sz="900" b="0">
                <a:solidFill>
                  <a:srgbClr val="2C3E50"/>
                </a:solidFill>
                <a:latin typeface="Calibri"/>
              </a:rPr>
              <a:t>In a real CI/CD pipeline, this means the breaking change would never reach production. The developer gets instant feedback about what they broke, which contract was violated, and exactly what needs to be fixed.</a:t>
            </a:r>
          </a:p>
          <a:p>
            <a:pPr algn="l">
              <a:spcBef>
                <a:spcPts val="0"/>
              </a:spcBef>
              <a:spcAft>
                <a:spcPts val="0"/>
              </a:spcAft>
              <a:defRPr sz="200" b="0">
                <a:solidFill>
                  <a:srgbClr val="2C3E50"/>
                </a:solidFill>
                <a:latin typeface="Calibri"/>
              </a:defRPr>
            </a:pPr>
            <a:endParaRPr sz="900" b="0">
              <a:solidFill>
                <a:srgbClr val="2C3E50"/>
              </a:solidFill>
              <a:latin typeface="Calibri"/>
            </a:endParaRPr>
          </a:p>
          <a:p>
            <a:pPr algn="l">
              <a:spcBef>
                <a:spcPts val="300"/>
              </a:spcBef>
              <a:spcAft>
                <a:spcPts val="0"/>
              </a:spcAft>
              <a:defRPr sz="900" b="0">
                <a:solidFill>
                  <a:srgbClr val="2C3E50"/>
                </a:solidFill>
                <a:latin typeface="Calibri"/>
              </a:defRPr>
            </a:pPr>
            <a:r>
              <a:t>④  After reverting the change back to "name", all tests passed again and the build succeeded — proving the system correctly distinguishes between valid and invalid API states.</a:t>
            </a:r>
          </a:p>
        </p:txBody>
      </p:sp>
      <p:sp>
        <p:nvSpPr>
          <p:cNvPr id="32" name="Rounded Rectangle 31"/>
          <p:cNvSpPr/>
          <p:nvPr/>
        </p:nvSpPr>
        <p:spPr>
          <a:xfrm>
            <a:off x="6217920" y="2514600"/>
            <a:ext cx="5715000" cy="251460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55080" y="2542032"/>
            <a:ext cx="5394960" cy="274320"/>
          </a:xfrm>
          <a:prstGeom prst="rect">
            <a:avLst/>
          </a:prstGeom>
          <a:noFill/>
        </p:spPr>
        <p:txBody>
          <a:bodyPr wrap="square">
            <a:spAutoFit/>
          </a:bodyPr>
          <a:lstStyle/>
          <a:p>
            <a:pPr algn="l">
              <a:defRPr sz="1300" b="1">
                <a:solidFill>
                  <a:srgbClr val="1E3A5F"/>
                </a:solidFill>
                <a:latin typeface="Calibri"/>
              </a:defRPr>
            </a:pPr>
            <a:r>
              <a:t>📊  Business Impact — Before vs After Contract Testing</a:t>
            </a:r>
          </a:p>
        </p:txBody>
      </p:sp>
      <p:sp>
        <p:nvSpPr>
          <p:cNvPr id="34" name="TextBox 33"/>
          <p:cNvSpPr txBox="1"/>
          <p:nvPr/>
        </p:nvSpPr>
        <p:spPr>
          <a:xfrm>
            <a:off x="6355080" y="2852928"/>
            <a:ext cx="2651760" cy="2057400"/>
          </a:xfrm>
          <a:prstGeom prst="rect">
            <a:avLst/>
          </a:prstGeom>
          <a:noFill/>
        </p:spPr>
        <p:txBody>
          <a:bodyPr wrap="square">
            <a:spAutoFit/>
          </a:bodyPr>
          <a:lstStyle/>
          <a:p>
            <a:pPr algn="l">
              <a:defRPr sz="1000" b="1">
                <a:solidFill>
                  <a:srgbClr val="E74C3C"/>
                </a:solidFill>
                <a:latin typeface="Calibri"/>
              </a:defRPr>
            </a:pPr>
            <a:r>
              <a:t>Without Contract Testing:</a:t>
            </a:r>
          </a:p>
          <a:p>
            <a:pPr algn="l">
              <a:spcBef>
                <a:spcPts val="400"/>
              </a:spcBef>
              <a:spcAft>
                <a:spcPts val="0"/>
              </a:spcAft>
              <a:defRPr sz="750" b="0">
                <a:solidFill>
                  <a:srgbClr val="2C3E50"/>
                </a:solidFill>
                <a:latin typeface="Calibri"/>
              </a:defRPr>
            </a:pPr>
            <a:r>
              <a:t>❌  Breaking API changes pass all local tests and reach production undetected, causing service outages that affect real users</a:t>
            </a:r>
          </a:p>
          <a:p>
            <a:pPr algn="l">
              <a:spcBef>
                <a:spcPts val="400"/>
              </a:spcBef>
              <a:spcAft>
                <a:spcPts val="0"/>
              </a:spcAft>
              <a:defRPr sz="750" b="0">
                <a:solidFill>
                  <a:srgbClr val="2C3E50"/>
                </a:solidFill>
                <a:latin typeface="Calibri"/>
              </a:defRPr>
            </a:pPr>
            <a:r>
              <a:t>❌  Consumer services fail silently — the team only discovers the problem when end-users report errors, leading to poor user experience</a:t>
            </a:r>
          </a:p>
          <a:p>
            <a:pPr algn="l">
              <a:spcBef>
                <a:spcPts val="400"/>
              </a:spcBef>
              <a:spcAft>
                <a:spcPts val="0"/>
              </a:spcAft>
              <a:defRPr sz="750" b="0">
                <a:solidFill>
                  <a:srgbClr val="2C3E50"/>
                </a:solidFill>
                <a:latin typeface="Calibri"/>
              </a:defRPr>
            </a:pPr>
            <a:r>
              <a:t>❌  Cross-team debugging takes hours or days because no one knows which API change caused which downstream failure</a:t>
            </a:r>
          </a:p>
          <a:p>
            <a:pPr algn="l">
              <a:spcBef>
                <a:spcPts val="400"/>
              </a:spcBef>
              <a:spcAft>
                <a:spcPts val="0"/>
              </a:spcAft>
              <a:defRPr sz="750" b="0">
                <a:solidFill>
                  <a:srgbClr val="2C3E50"/>
                </a:solidFill>
                <a:latin typeface="Calibri"/>
              </a:defRPr>
            </a:pPr>
            <a:r>
              <a:t>❌  Every API modification requires manual coordination between teams via meetings, emails, and documentation — this doesn’t scale</a:t>
            </a:r>
          </a:p>
        </p:txBody>
      </p:sp>
      <p:sp>
        <p:nvSpPr>
          <p:cNvPr id="35" name="TextBox 34"/>
          <p:cNvSpPr txBox="1"/>
          <p:nvPr/>
        </p:nvSpPr>
        <p:spPr>
          <a:xfrm>
            <a:off x="9189720" y="2852928"/>
            <a:ext cx="2606040" cy="2057400"/>
          </a:xfrm>
          <a:prstGeom prst="rect">
            <a:avLst/>
          </a:prstGeom>
          <a:noFill/>
        </p:spPr>
        <p:txBody>
          <a:bodyPr wrap="square">
            <a:spAutoFit/>
          </a:bodyPr>
          <a:lstStyle/>
          <a:p>
            <a:pPr algn="l">
              <a:defRPr sz="1000" b="1">
                <a:solidFill>
                  <a:srgbClr val="2ECC71"/>
                </a:solidFill>
                <a:latin typeface="Calibri"/>
              </a:defRPr>
            </a:pPr>
            <a:r>
              <a:t>With Contract Testing:</a:t>
            </a:r>
          </a:p>
          <a:p>
            <a:pPr algn="l">
              <a:spcBef>
                <a:spcPts val="400"/>
              </a:spcBef>
              <a:spcAft>
                <a:spcPts val="0"/>
              </a:spcAft>
              <a:defRPr sz="750" b="0">
                <a:solidFill>
                  <a:srgbClr val="2C3E50"/>
                </a:solidFill>
                <a:latin typeface="Calibri"/>
              </a:defRPr>
            </a:pPr>
            <a:r>
              <a:t>✅  Breaking changes are caught instantly at build time — the build fails with a clear error message, and deployment is automatically blocked</a:t>
            </a:r>
          </a:p>
          <a:p>
            <a:pPr algn="l">
              <a:spcBef>
                <a:spcPts val="400"/>
              </a:spcBef>
              <a:spcAft>
                <a:spcPts val="0"/>
              </a:spcAft>
              <a:defRPr sz="750" b="0">
                <a:solidFill>
                  <a:srgbClr val="2C3E50"/>
                </a:solidFill>
                <a:latin typeface="Calibri"/>
              </a:defRPr>
            </a:pPr>
            <a:r>
              <a:t>✅  Both Provider and Consumer tests independently verify compliance with the shared contract on every single git push</a:t>
            </a:r>
          </a:p>
          <a:p>
            <a:pPr algn="l">
              <a:spcBef>
                <a:spcPts val="400"/>
              </a:spcBef>
              <a:spcAft>
                <a:spcPts val="0"/>
              </a:spcAft>
              <a:defRPr sz="750" b="0">
                <a:solidFill>
                  <a:srgbClr val="2C3E50"/>
                </a:solidFill>
                <a:latin typeface="Calibri"/>
              </a:defRPr>
            </a:pPr>
            <a:r>
              <a:t>✅  Error messages pinpoint the exact field, the expected value, and the actual value — debugging takes seconds, not hours</a:t>
            </a:r>
          </a:p>
          <a:p>
            <a:pPr algn="l">
              <a:spcBef>
                <a:spcPts val="400"/>
              </a:spcBef>
              <a:spcAft>
                <a:spcPts val="0"/>
              </a:spcAft>
              <a:defRPr sz="750" b="0">
                <a:solidFill>
                  <a:srgbClr val="2C3E50"/>
                </a:solidFill>
                <a:latin typeface="Calibri"/>
              </a:defRPr>
            </a:pPr>
            <a:r>
              <a:t>✅  The entire verification process is fully automated in the CI/CD pipeline with zero manual effort and zero team coordination needed</a:t>
            </a:r>
          </a:p>
        </p:txBody>
      </p:sp>
      <p:sp>
        <p:nvSpPr>
          <p:cNvPr id="36" name="Rounded Rectangle 35"/>
          <p:cNvSpPr/>
          <p:nvPr/>
        </p:nvSpPr>
        <p:spPr>
          <a:xfrm>
            <a:off x="228600" y="5212080"/>
            <a:ext cx="5806440" cy="1508760"/>
          </a:xfrm>
          <a:prstGeom prst="roundRect">
            <a:avLst/>
          </a:prstGeom>
          <a:solidFill>
            <a:srgbClr val="EAFAE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5760" y="5239512"/>
            <a:ext cx="5486400" cy="246888"/>
          </a:xfrm>
          <a:prstGeom prst="rect">
            <a:avLst/>
          </a:prstGeom>
          <a:noFill/>
        </p:spPr>
        <p:txBody>
          <a:bodyPr wrap="square">
            <a:spAutoFit/>
          </a:bodyPr>
          <a:lstStyle/>
          <a:p>
            <a:pPr algn="l">
              <a:defRPr sz="1300" b="1">
                <a:solidFill>
                  <a:srgbClr val="2ECC71"/>
                </a:solidFill>
                <a:latin typeface="Calibri"/>
              </a:defRPr>
            </a:pPr>
            <a:r>
              <a:rPr dirty="0"/>
              <a:t>🚀  Project Journey — 9 Phases, 7 Complete (78%)</a:t>
            </a:r>
          </a:p>
          <a:p>
            <a:pPr algn="l">
              <a:spcBef>
                <a:spcPts val="0"/>
              </a:spcBef>
              <a:spcAft>
                <a:spcPts val="0"/>
              </a:spcAft>
              <a:defRPr sz="200" b="0">
                <a:solidFill>
                  <a:srgbClr val="2C3E50"/>
                </a:solidFill>
                <a:latin typeface="Calibri"/>
              </a:defRPr>
            </a:pPr>
            <a:endParaRPr dirty="0"/>
          </a:p>
          <a:p>
            <a:pPr algn="l">
              <a:spcBef>
                <a:spcPts val="200"/>
              </a:spcBef>
              <a:spcAft>
                <a:spcPts val="0"/>
              </a:spcAft>
              <a:defRPr sz="850" b="0">
                <a:solidFill>
                  <a:srgbClr val="2C3E50"/>
                </a:solidFill>
                <a:latin typeface="Calibri"/>
              </a:defRPr>
            </a:pPr>
            <a:r>
              <a:rPr sz="800" b="1" dirty="0">
                <a:solidFill>
                  <a:srgbClr val="2ECC71"/>
                </a:solidFill>
                <a:latin typeface="Calibri"/>
              </a:rPr>
              <a:t>✅ Phase 1: </a:t>
            </a:r>
            <a:r>
              <a:rPr sz="800" b="0" dirty="0">
                <a:solidFill>
                  <a:srgbClr val="2C3E50"/>
                </a:solidFill>
                <a:latin typeface="Calibri"/>
              </a:rPr>
              <a:t>Studied the problem of silent microservice failures  |  </a:t>
            </a:r>
            <a:r>
              <a:rPr sz="800" b="1" dirty="0">
                <a:solidFill>
                  <a:srgbClr val="2ECC71"/>
                </a:solidFill>
                <a:latin typeface="Calibri"/>
              </a:rPr>
              <a:t>✅ Phase 2: </a:t>
            </a:r>
            <a:r>
              <a:rPr sz="800" b="0" dirty="0">
                <a:solidFill>
                  <a:srgbClr val="2C3E50"/>
                </a:solidFill>
                <a:latin typeface="Calibri"/>
              </a:rPr>
              <a:t>Researched </a:t>
            </a:r>
            <a:r>
              <a:rPr sz="800" b="0" dirty="0" err="1">
                <a:solidFill>
                  <a:srgbClr val="2C3E50"/>
                </a:solidFill>
                <a:latin typeface="Calibri"/>
              </a:rPr>
              <a:t>OpenAPI</a:t>
            </a:r>
            <a:r>
              <a:rPr sz="800" b="0" dirty="0">
                <a:solidFill>
                  <a:srgbClr val="2C3E50"/>
                </a:solidFill>
                <a:latin typeface="Calibri"/>
              </a:rPr>
              <a:t> specs and Spring Cloud Contract framework</a:t>
            </a:r>
          </a:p>
          <a:p>
            <a:pPr algn="l">
              <a:spcBef>
                <a:spcPts val="200"/>
              </a:spcBef>
              <a:spcAft>
                <a:spcPts val="0"/>
              </a:spcAft>
              <a:defRPr sz="850" b="0">
                <a:solidFill>
                  <a:srgbClr val="2C3E50"/>
                </a:solidFill>
                <a:latin typeface="Calibri"/>
              </a:defRPr>
            </a:pPr>
            <a:r>
              <a:rPr sz="800" b="1" dirty="0">
                <a:solidFill>
                  <a:srgbClr val="2ECC71"/>
                </a:solidFill>
                <a:latin typeface="Calibri"/>
              </a:rPr>
              <a:t>✅ Phase 3: </a:t>
            </a:r>
            <a:r>
              <a:rPr sz="800" b="0" dirty="0">
                <a:solidFill>
                  <a:srgbClr val="2C3E50"/>
                </a:solidFill>
                <a:latin typeface="Calibri"/>
              </a:rPr>
              <a:t>Built Provider API (User Service) with full CRUD and </a:t>
            </a:r>
            <a:r>
              <a:rPr sz="800" b="0" dirty="0" err="1">
                <a:solidFill>
                  <a:srgbClr val="2C3E50"/>
                </a:solidFill>
                <a:latin typeface="Calibri"/>
              </a:rPr>
              <a:t>OpenAPI</a:t>
            </a:r>
            <a:r>
              <a:rPr sz="800" b="0" dirty="0">
                <a:solidFill>
                  <a:srgbClr val="2C3E50"/>
                </a:solidFill>
                <a:latin typeface="Calibri"/>
              </a:rPr>
              <a:t>  |  </a:t>
            </a:r>
            <a:r>
              <a:rPr sz="800" b="1" dirty="0">
                <a:solidFill>
                  <a:srgbClr val="2ECC71"/>
                </a:solidFill>
                <a:latin typeface="Calibri"/>
              </a:rPr>
              <a:t>✅ Phase 4: </a:t>
            </a:r>
            <a:r>
              <a:rPr sz="800" b="0" dirty="0">
                <a:solidFill>
                  <a:srgbClr val="2C3E50"/>
                </a:solidFill>
                <a:latin typeface="Calibri"/>
              </a:rPr>
              <a:t>Built Consumer API (Order Service) with inter-service calls</a:t>
            </a:r>
          </a:p>
          <a:p>
            <a:pPr algn="l">
              <a:spcBef>
                <a:spcPts val="200"/>
              </a:spcBef>
              <a:spcAft>
                <a:spcPts val="0"/>
              </a:spcAft>
              <a:defRPr sz="850" b="0">
                <a:solidFill>
                  <a:srgbClr val="2C3E50"/>
                </a:solidFill>
                <a:latin typeface="Calibri"/>
              </a:defRPr>
            </a:pPr>
            <a:r>
              <a:rPr sz="800" b="1" dirty="0">
                <a:solidFill>
                  <a:srgbClr val="2ECC71"/>
                </a:solidFill>
                <a:latin typeface="Calibri"/>
              </a:rPr>
              <a:t>✅ Phase 5: </a:t>
            </a:r>
            <a:r>
              <a:rPr sz="800" b="0" dirty="0">
                <a:solidFill>
                  <a:srgbClr val="2C3E50"/>
                </a:solidFill>
                <a:latin typeface="Calibri"/>
              </a:rPr>
              <a:t>Implemented contract testing with SCC Verifier and Stub Runner  |  </a:t>
            </a:r>
            <a:r>
              <a:rPr sz="800" b="1" dirty="0">
                <a:solidFill>
                  <a:srgbClr val="2ECC71"/>
                </a:solidFill>
                <a:latin typeface="Calibri"/>
              </a:rPr>
              <a:t>✅ Phase 6: </a:t>
            </a:r>
            <a:r>
              <a:rPr sz="800" b="0" dirty="0">
                <a:solidFill>
                  <a:srgbClr val="2C3E50"/>
                </a:solidFill>
                <a:latin typeface="Calibri"/>
              </a:rPr>
              <a:t>Demonstrated breaking change detection live</a:t>
            </a:r>
          </a:p>
          <a:p>
            <a:pPr algn="l">
              <a:spcBef>
                <a:spcPts val="200"/>
              </a:spcBef>
              <a:spcAft>
                <a:spcPts val="0"/>
              </a:spcAft>
              <a:defRPr sz="850" b="0">
                <a:solidFill>
                  <a:srgbClr val="2C3E50"/>
                </a:solidFill>
                <a:latin typeface="Calibri"/>
              </a:defRPr>
            </a:pPr>
            <a:r>
              <a:rPr sz="800" b="1" dirty="0">
                <a:solidFill>
                  <a:srgbClr val="2ECC71"/>
                </a:solidFill>
                <a:latin typeface="Calibri"/>
              </a:rPr>
              <a:t>✅ Phase 7: </a:t>
            </a:r>
            <a:r>
              <a:rPr sz="800" b="0" dirty="0">
                <a:solidFill>
                  <a:srgbClr val="2C3E50"/>
                </a:solidFill>
                <a:latin typeface="Calibri"/>
              </a:rPr>
              <a:t>Built Python AI Agent with 5 tools  |  </a:t>
            </a:r>
            <a:r>
              <a:rPr sz="800" b="1" dirty="0">
                <a:solidFill>
                  <a:srgbClr val="F39C12"/>
                </a:solidFill>
                <a:latin typeface="Calibri"/>
              </a:rPr>
              <a:t>🔄 Phase 8: </a:t>
            </a:r>
            <a:r>
              <a:rPr sz="800" b="0" dirty="0">
                <a:solidFill>
                  <a:srgbClr val="2C3E50"/>
                </a:solidFill>
                <a:latin typeface="Calibri"/>
              </a:rPr>
              <a:t>CI/CD pipeline live on GitLab  |  </a:t>
            </a:r>
            <a:r>
              <a:rPr sz="800" b="1" dirty="0">
                <a:solidFill>
                  <a:srgbClr val="7F8C8D"/>
                </a:solidFill>
                <a:latin typeface="Calibri"/>
              </a:rPr>
              <a:t>📋 Phase 9: </a:t>
            </a:r>
            <a:r>
              <a:rPr sz="800" b="0" dirty="0">
                <a:solidFill>
                  <a:srgbClr val="7F8C8D"/>
                </a:solidFill>
                <a:latin typeface="Calibri"/>
              </a:rPr>
              <a:t>Dashboard, alerts, auto-MR (planned)</a:t>
            </a:r>
          </a:p>
        </p:txBody>
      </p:sp>
      <p:sp>
        <p:nvSpPr>
          <p:cNvPr id="38" name="Rounded Rectangle 37"/>
          <p:cNvSpPr/>
          <p:nvPr/>
        </p:nvSpPr>
        <p:spPr>
          <a:xfrm>
            <a:off x="6217920" y="5212080"/>
            <a:ext cx="5715000" cy="1508760"/>
          </a:xfrm>
          <a:prstGeom prst="roundRect">
            <a:avLst/>
          </a:prstGeom>
          <a:solidFill>
            <a:srgbClr val="EBF5FB"/>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55080" y="5239512"/>
            <a:ext cx="5394960" cy="246888"/>
          </a:xfrm>
          <a:prstGeom prst="rect">
            <a:avLst/>
          </a:prstGeom>
          <a:noFill/>
        </p:spPr>
        <p:txBody>
          <a:bodyPr wrap="square">
            <a:spAutoFit/>
          </a:bodyPr>
          <a:lstStyle/>
          <a:p>
            <a:pPr algn="l">
              <a:defRPr sz="1300" b="1">
                <a:solidFill>
                  <a:srgbClr val="1E3A5F"/>
                </a:solidFill>
                <a:latin typeface="Calibri"/>
              </a:defRPr>
            </a:pPr>
            <a:r>
              <a:t>🔧  Technologies Used &amp; Next Steps</a:t>
            </a:r>
          </a:p>
          <a:p>
            <a:pPr algn="l">
              <a:spcBef>
                <a:spcPts val="0"/>
              </a:spcBef>
              <a:spcAft>
                <a:spcPts val="0"/>
              </a:spcAft>
              <a:defRPr sz="200" b="0">
                <a:solidFill>
                  <a:srgbClr val="2C3E50"/>
                </a:solidFill>
                <a:latin typeface="Calibri"/>
              </a:defRPr>
            </a:pPr>
            <a:endParaRPr/>
          </a:p>
          <a:p>
            <a:pPr algn="l">
              <a:spcBef>
                <a:spcPts val="300"/>
              </a:spcBef>
              <a:spcAft>
                <a:spcPts val="0"/>
              </a:spcAft>
              <a:defRPr sz="800" b="0">
                <a:solidFill>
                  <a:srgbClr val="2C3E50"/>
                </a:solidFill>
                <a:latin typeface="Calibri"/>
              </a:defRPr>
            </a:pPr>
            <a:r>
              <a:t>Backend:  Java 25 with Spring Boot 3.2.5  •  Apache Maven 3.9.12  •  Jakarta Validation for input checking  •  RestTemplate for inter-service HTTP calls  •  springdoc-openapi 2.5.0 for auto-generating API documentation</a:t>
            </a:r>
          </a:p>
          <a:p>
            <a:pPr algn="l">
              <a:spcBef>
                <a:spcPts val="300"/>
              </a:spcBef>
              <a:spcAft>
                <a:spcPts val="0"/>
              </a:spcAft>
              <a:defRPr sz="800" b="0">
                <a:solidFill>
                  <a:srgbClr val="2C3E50"/>
                </a:solidFill>
                <a:latin typeface="Calibri"/>
              </a:defRPr>
            </a:pPr>
            <a:r>
              <a:t>Testing:  Spring Cloud Contract 4.1.3 (Verifier + Stub Runner)  •  REST Assured for HTTP assertions  •  WireMock for mock server stubs  •  OpenAPI/Swagger 3.0 specification standard</a:t>
            </a:r>
          </a:p>
          <a:p>
            <a:pPr algn="l">
              <a:spcBef>
                <a:spcPts val="300"/>
              </a:spcBef>
              <a:spcAft>
                <a:spcPts val="0"/>
              </a:spcAft>
              <a:defRPr sz="800" b="0">
                <a:solidFill>
                  <a:srgbClr val="2C3E50"/>
                </a:solidFill>
                <a:latin typeface="Calibri"/>
              </a:defRPr>
            </a:pPr>
            <a:r>
              <a:t>Automation:  Python 3.14 with requests and PyYAML libraries  •  GitLab CI/CD pipeline  •  Git version control with GitHub and GitLab remotes  •  Docker (maven:3.9-eclipse-temurin-17)</a:t>
            </a:r>
          </a:p>
          <a:p>
            <a:pPr algn="l">
              <a:spcBef>
                <a:spcPts val="0"/>
              </a:spcBef>
              <a:spcAft>
                <a:spcPts val="0"/>
              </a:spcAft>
              <a:defRPr sz="200" b="0">
                <a:solidFill>
                  <a:srgbClr val="2C3E50"/>
                </a:solidFill>
                <a:latin typeface="Calibri"/>
              </a:defRPr>
            </a:pPr>
            <a:endParaRPr/>
          </a:p>
          <a:p>
            <a:pPr algn="l">
              <a:spcBef>
                <a:spcPts val="300"/>
              </a:spcBef>
              <a:spcAft>
                <a:spcPts val="0"/>
              </a:spcAft>
              <a:defRPr sz="800" b="0">
                <a:solidFill>
                  <a:srgbClr val="2C3E50"/>
                </a:solidFill>
                <a:latin typeface="Calibri"/>
              </a:defRPr>
            </a:pPr>
            <a:r>
              <a:rPr sz="800" b="1">
                <a:solidFill>
                  <a:srgbClr val="1E3A5F"/>
                </a:solidFill>
                <a:latin typeface="Calibri"/>
              </a:rPr>
              <a:t>Upcoming:  </a:t>
            </a:r>
            <a:r>
              <a:rPr sz="800" b="0">
                <a:solidFill>
                  <a:srgbClr val="7F8C8D"/>
                </a:solidFill>
                <a:latin typeface="Calibri"/>
              </a:rPr>
              <a:t>Run and verify the full pipeline end-to-end on GitLab  •  Build a dashboard UI for visualizing contract health over time  •  Automated merge request creation when contracts need updating  •  Team notification integration (Slack/email) when contract tests fail</a:t>
            </a:r>
          </a:p>
        </p:txBody>
      </p:sp>
      <p:sp>
        <p:nvSpPr>
          <p:cNvPr id="40" name="Rectangle 39"/>
          <p:cNvSpPr/>
          <p:nvPr/>
        </p:nvSpPr>
        <p:spPr>
          <a:xfrm>
            <a:off x="0" y="6766560"/>
            <a:ext cx="12191695" cy="91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245</TotalTime>
  <Words>2807</Words>
  <Application>Microsoft Office PowerPoint</Application>
  <PresentationFormat>Widescreen</PresentationFormat>
  <Paragraphs>123</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 Kumar, Druva</cp:lastModifiedBy>
  <cp:revision>2</cp:revision>
  <dcterms:created xsi:type="dcterms:W3CDTF">2013-01-27T09:14:16Z</dcterms:created>
  <dcterms:modified xsi:type="dcterms:W3CDTF">2026-03-27T08:37:19Z</dcterms:modified>
  <cp:category/>
</cp:coreProperties>
</file>